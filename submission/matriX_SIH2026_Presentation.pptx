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4" r:id="rId5"/>
    <p:sldId id="293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EDF0F7"/>
    <a:srgbClr val="FAEDED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98" dt="2026-09-10T17:23:30.394"/>
    <p1510:client id="{29304D8C-60F0-453D-8ADB-31B03BAED8D8}" v="26" dt="2026-09-10T13:03:42.773"/>
    <p1510:client id="{85C48D5B-2368-2EC5-29CF-5E7ACF19390E}" v="5" dt="2026-09-10T16:08:24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2.png"/><Relationship Id="rId15" Type="http://schemas.openxmlformats.org/officeDocument/2006/relationships/image" Target="../media/image15.jpeg"/><Relationship Id="rId10" Type="http://schemas.openxmlformats.org/officeDocument/2006/relationships/image" Target="../media/image10.svg"/><Relationship Id="rId4" Type="http://schemas.openxmlformats.org/officeDocument/2006/relationships/image" Target="../media/image5.jpeg"/><Relationship Id="rId9" Type="http://schemas.openxmlformats.org/officeDocument/2006/relationships/image" Target="../media/image9.jpe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jpeg"/><Relationship Id="rId4" Type="http://schemas.openxmlformats.org/officeDocument/2006/relationships/image" Target="../media/image17.png"/><Relationship Id="rId9" Type="http://schemas.openxmlformats.org/officeDocument/2006/relationships/image" Target="../media/image2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c.ncbi.nlm.nih.gov/articles/PMC5871217/" TargetMode="External"/><Relationship Id="rId5" Type="http://schemas.openxmlformats.org/officeDocument/2006/relationships/hyperlink" Target="https://www.researchgate.net/publication/370852465_Santarpanotha_Nidana_Questionnaire_Evaluating_and_Designing" TargetMode="External"/><Relationship Id="rId10" Type="http://schemas.openxmlformats.org/officeDocument/2006/relationships/image" Target="../media/image28.jpeg"/><Relationship Id="rId4" Type="http://schemas.openxmlformats.org/officeDocument/2006/relationships/hyperlink" Target="https://ahmis.ayush.gov.in/ayush_health_facilities" TargetMode="External"/><Relationship Id="rId9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34226" y="1970393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323" y="1719470"/>
            <a:ext cx="7357201" cy="46866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Problem Statement ID –  </a:t>
            </a:r>
            <a:r>
              <a:rPr lang="en-IN" sz="2400" dirty="0">
                <a:latin typeface="Arial"/>
                <a:ea typeface="ＭＳ Ｐゴシック"/>
                <a:cs typeface="Arial"/>
              </a:rPr>
              <a:t>SIH26047</a:t>
            </a:r>
            <a:endParaRPr lang="en-US" sz="2400" b="1" dirty="0"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Problem Statement Title - </a:t>
            </a:r>
            <a:r>
              <a:rPr lang="en-US" sz="2400" dirty="0">
                <a:latin typeface="Arial"/>
                <a:ea typeface="ＭＳ Ｐゴシック"/>
                <a:cs typeface="Arial"/>
              </a:rPr>
              <a:t>Patient Case Taking Software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Theme- </a:t>
            </a:r>
            <a:r>
              <a:rPr lang="en-IN" sz="2400" dirty="0">
                <a:latin typeface="Calibri"/>
                <a:ea typeface="ＭＳ Ｐゴシック"/>
                <a:cs typeface="Calibri"/>
              </a:rPr>
              <a:t>MedTech / </a:t>
            </a:r>
            <a:r>
              <a:rPr lang="en-IN" sz="2400" dirty="0" err="1">
                <a:latin typeface="Calibri"/>
                <a:ea typeface="ＭＳ Ｐゴシック"/>
                <a:cs typeface="Calibri"/>
              </a:rPr>
              <a:t>BioTech</a:t>
            </a:r>
            <a:r>
              <a:rPr lang="en-IN" sz="2400" dirty="0">
                <a:latin typeface="Calibri"/>
                <a:ea typeface="ＭＳ Ｐゴシック"/>
                <a:cs typeface="Calibri"/>
              </a:rPr>
              <a:t> / HealthTech</a:t>
            </a:r>
            <a:endParaRPr lang="en-US" sz="2400" dirty="0">
              <a:latin typeface="Calibri"/>
              <a:ea typeface="ＭＳ Ｐゴシック"/>
              <a:cs typeface="Calibri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PS Category- </a:t>
            </a:r>
            <a:r>
              <a:rPr lang="en-US" sz="2400" dirty="0">
                <a:latin typeface="Arial"/>
                <a:ea typeface="ＭＳ Ｐゴシック"/>
                <a:cs typeface="Arial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Team </a:t>
            </a:r>
            <a:r>
              <a:rPr lang="en-US" sz="2400" b="1">
                <a:latin typeface="Arial"/>
                <a:ea typeface="ＭＳ Ｐゴシック"/>
                <a:cs typeface="Arial"/>
              </a:rPr>
              <a:t>Name -</a:t>
            </a:r>
            <a:r>
              <a:rPr lang="en-US" sz="2400" b="1" dirty="0">
                <a:latin typeface="Arial"/>
                <a:ea typeface="ＭＳ Ｐゴシック"/>
                <a:cs typeface="Arial"/>
              </a:rPr>
              <a:t> </a:t>
            </a:r>
            <a:r>
              <a:rPr lang="en-US" sz="2400">
                <a:latin typeface="Arial"/>
                <a:ea typeface="ＭＳ Ｐゴシック"/>
                <a:cs typeface="Arial"/>
              </a:rPr>
              <a:t>matriX</a:t>
            </a:r>
            <a:endParaRPr lang="en-I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AE63755-DEF0-1F11-5F69-9874D6A1539A}"/>
              </a:ext>
            </a:extLst>
          </p:cNvPr>
          <p:cNvSpPr txBox="1"/>
          <p:nvPr/>
        </p:nvSpPr>
        <p:spPr>
          <a:xfrm>
            <a:off x="5629902" y="226110"/>
            <a:ext cx="4860880" cy="60939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" dirty="0">
                <a:solidFill>
                  <a:srgbClr val="FFFFFF"/>
                </a:solidFill>
                <a:latin typeface="Calibri"/>
                <a:ea typeface="ＭＳ Ｐゴシック"/>
                <a:cs typeface="Calibri"/>
              </a:rPr>
              <a:t>User Flow (Patient &amp; Doctor)</a:t>
            </a:r>
            <a:endParaRPr lang="en-US" sz="600">
              <a:solidFill>
                <a:srgbClr val="FFFFFF"/>
              </a:solidFill>
              <a:latin typeface="Calibri"/>
              <a:ea typeface="ＭＳ Ｐゴシック"/>
              <a:cs typeface="Calibri"/>
            </a:endParaRPr>
          </a:p>
          <a:p>
            <a:r>
              <a:rPr lang="en-US" sz="600" dirty="0">
                <a:solidFill>
                  <a:srgbClr val="FFFFFF"/>
                </a:solidFill>
                <a:latin typeface="Calibri"/>
                <a:ea typeface="ＭＳ Ｐゴシック"/>
                <a:cs typeface="Calibri"/>
              </a:rPr>
              <a:t>Patient / Citizen Flow</a:t>
            </a:r>
            <a:endParaRPr lang="en-US" sz="600">
              <a:solidFill>
                <a:srgbClr val="FFFFFF"/>
              </a:solidFill>
              <a:latin typeface="Calibri"/>
              <a:ea typeface="ＭＳ Ｐゴシック"/>
              <a:cs typeface="Calibri"/>
            </a:endParaRPr>
          </a:p>
          <a:p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Start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</a:t>
            </a:r>
            <a:r>
              <a:rPr lang="en-US" sz="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MediKiosk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Splash Screen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 Language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EN, HI, MR, TA, TE, BN, etc.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 User Role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Patient / Citizen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Login / Identity Verification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OTP / Aadhaar / ABHA ID / Ration Card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Complete Profile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Auto-fetch (Aadhaar/ABHA) + Manual entry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Name / Gender / DOB / Address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 Credentials?</a:t>
            </a: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No:</a:t>
            </a: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Show Error — Invalid / Try Again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Yes:</a:t>
            </a: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Continue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Profile Complete?</a:t>
            </a: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No:</a:t>
            </a: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Show Reminder — Profile Incomplete / Complete Now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Yes:</a:t>
            </a: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Continue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Home Dashboard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Start Assessment / Voice Assistant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AI Summary / Profile / Edit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Start AYUSH Evaluation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Comprehensive Mode (10-fold)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Quick Triage (3–4 min)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Assessment Flow (7 Steps)</a:t>
            </a: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 Consultation Mode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Prakriti Mapping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 Vikriti &amp; Dhatu Sara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 Agni Assessment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 </a:t>
            </a:r>
            <a:r>
              <a:rPr lang="en-US" sz="6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Koshtha</a:t>
            </a: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Assessment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 Chief Complaints &amp; History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 Review &amp; Submit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Voice / Text Input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Voice/Text / Upload Document / Camera Scan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600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(Multilingual – Bhashini ASR)</a:t>
            </a:r>
            <a:r>
              <a:rPr lang="en-US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Analysis &amp; Recommendations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Prakriti Analysis | Symptom Insights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Personalized Suggestions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Generate Summary &amp; Token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Clinical Summary | Red Flags (if any)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Next Actions | Token Number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End — Ready for </a:t>
            </a:r>
            <a:r>
              <a:rPr lang="en-US" sz="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Consultation</a:t>
            </a:r>
            <a:r>
              <a:rPr lang="en-US" sz="600" dirty="0" err="1">
                <a:solidFill>
                  <a:srgbClr val="FFFFFF"/>
                </a:solidFill>
                <a:latin typeface="Calibri"/>
                <a:ea typeface="ＭＳ Ｐゴシック"/>
                <a:cs typeface="Calibri"/>
              </a:rPr>
              <a:t>Doctor</a:t>
            </a:r>
            <a:r>
              <a:rPr lang="en-US" sz="600" dirty="0">
                <a:solidFill>
                  <a:srgbClr val="FFFFFF"/>
                </a:solidFill>
                <a:latin typeface="Calibri"/>
                <a:ea typeface="ＭＳ Ｐゴシック"/>
                <a:cs typeface="Calibri"/>
              </a:rPr>
              <a:t> / Medical Staff Flow</a:t>
            </a:r>
          </a:p>
          <a:p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Start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Doctor Login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Phone (OTP) | ABHA ID | Staff ID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Doctor Dashboard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Patient queue | Appointments | Notifications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 Patient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Search by ABHA ID / Token / Name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View Patient Details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Demographics | Assessments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Documents | Medical &amp; Family History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Clinical Assessment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Nidana &amp; </a:t>
            </a:r>
            <a:r>
              <a:rPr lang="en-US" sz="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Samprapti</a:t>
            </a: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| Dosha, </a:t>
            </a:r>
            <a:r>
              <a:rPr lang="en-US" sz="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Srotas</a:t>
            </a: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Vikriti, Agni, </a:t>
            </a:r>
            <a:r>
              <a:rPr lang="en-US" sz="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Koshtha</a:t>
            </a: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| Clinical notes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Diagnosis &amp; Treatment Plan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Diagnosis (ICD/AYUSH code) | Treatment Plan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Prescribe / Recommend | Follow-up Schedule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Generate Consultation Summary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Patient Summary | Prescription (PDF)</a:t>
            </a:r>
            <a:br>
              <a:rPr lang="en-US" sz="600" b="1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Care Instructions | Share with Patient </a:t>
            </a:r>
            <a:endParaRPr lang="en-US" sz="600">
              <a:solidFill>
                <a:srgbClr val="FFFFFF"/>
              </a:solidFill>
              <a:latin typeface="Calibri"/>
              <a:cs typeface="Calibri"/>
            </a:endParaRPr>
          </a:p>
          <a:p>
            <a:endParaRPr lang="en-US" sz="6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5828" y="99215"/>
            <a:ext cx="1322046" cy="30819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err="1"/>
              <a:t>matriX</a:t>
            </a:r>
            <a:endParaRPr lang="en-IN" b="1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206" y="1500"/>
            <a:ext cx="1537729" cy="7260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35C454-742A-CB55-3063-B726789E1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F51DF3B-E1B8-8093-B974-753C137A4EF8}"/>
              </a:ext>
            </a:extLst>
          </p:cNvPr>
          <p:cNvSpPr>
            <a:spLocks noGrp="1"/>
          </p:cNvSpPr>
          <p:nvPr/>
        </p:nvSpPr>
        <p:spPr bwMode="auto">
          <a:xfrm>
            <a:off x="775110" y="101600"/>
            <a:ext cx="10634688" cy="252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>
                <a:latin typeface="Times New Roman"/>
                <a:ea typeface="ＭＳ Ｐゴシック"/>
                <a:cs typeface="Times New Roman"/>
              </a:rPr>
              <a:t>MEDIKIOSK</a:t>
            </a:r>
            <a:endParaRPr lang="en-US" sz="36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8417ECE6-E7E6-6551-79E0-9D94612A1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19" y="737747"/>
            <a:ext cx="5850195" cy="5893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sz="1400" b="1" u="sng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PROPOSED SOLUTION</a:t>
            </a:r>
            <a:endParaRPr lang="en-US" sz="1400" u="sng">
              <a:solidFill>
                <a:srgbClr val="002060"/>
              </a:solidFill>
              <a:cs typeface="Calibri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300" b="1" u="sng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Unified Clinical Intake: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Multimodal (voice, touch, document) </a:t>
            </a:r>
            <a:r>
              <a:rPr lang="en-US" sz="1300" b="1" dirty="0">
                <a:latin typeface="Calibri"/>
                <a:ea typeface="Calibri"/>
                <a:cs typeface="Calibri"/>
              </a:rPr>
              <a:t>capture in one platform for structured pre-consultation history, enabling faster 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EMR (Electronic Medical Record)-ready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patient onboarding.</a:t>
            </a:r>
            <a:endParaRPr lang="en-US" sz="1300" b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300" b="1" u="sng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AI History Engine:</a:t>
            </a:r>
            <a:r>
              <a:rPr lang="en-US" sz="1300" b="1" u="sng" dirty="0"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Multilingual conversational AI (NLP – Natural Language Processing)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dynamically asks adaptive clinical follow-up questions and structures responses, using a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rule-based clinical decision support (CDS) engine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to flag emergency symptoms (e.g., chest pain, breathlessness) for immediate triage.</a:t>
            </a:r>
            <a:endParaRPr lang="en-US" sz="1300" b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300" b="1" u="sng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Comprehensive Health History:</a:t>
            </a:r>
            <a:r>
              <a:rPr lang="en-US" sz="1300" b="1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>
                <a:latin typeface="Calibri"/>
                <a:ea typeface="Calibri"/>
                <a:cs typeface="Calibri"/>
              </a:rPr>
              <a:t>Centralized, longitudinal 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EHR (Electronic Health Record)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of past illnesses, treatments, surgeries, medications, and family history — ensuring 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continuity of care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before consultation.</a:t>
            </a:r>
            <a:endParaRPr lang="en-US" sz="1300" b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300" b="1" u="sng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Medical Document Intelligence: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OCR (Optical Character Recognition) + NLP</a:t>
            </a:r>
            <a:r>
              <a:rPr lang="en-US" sz="1300" b="1" dirty="0">
                <a:latin typeface="Calibri"/>
                <a:ea typeface="Calibri"/>
                <a:cs typeface="Calibri"/>
              </a:rPr>
              <a:t>-based extraction from prescriptions, lab reports, and discharge summaries, auto-building a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chronological health timeline</a:t>
            </a:r>
            <a:r>
              <a:rPr lang="en-US" sz="1300" b="1" dirty="0">
                <a:latin typeface="Calibri"/>
                <a:ea typeface="Calibri"/>
                <a:cs typeface="Calibri"/>
              </a:rPr>
              <a:t>.</a:t>
            </a:r>
            <a:endParaRPr lang="en-US" sz="1300" b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300" b="1" u="sng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Clinical Summary &amp; Red-Flag Detection:</a:t>
            </a:r>
            <a:r>
              <a:rPr lang="en-US" sz="1300" b="1" u="sng" dirty="0"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>
                <a:latin typeface="Calibri"/>
                <a:ea typeface="Calibri"/>
                <a:cs typeface="Calibri"/>
              </a:rPr>
              <a:t>Generates a physician-ready summary via 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automated triage protocols</a:t>
            </a:r>
            <a:r>
              <a:rPr lang="en-US" sz="1300" b="1" dirty="0">
                <a:latin typeface="Calibri"/>
                <a:ea typeface="Calibri"/>
                <a:cs typeface="Calibri"/>
              </a:rPr>
              <a:t>, flagging emergency symptoms or critical information instantly.</a:t>
            </a:r>
            <a:endParaRPr lang="en-US" sz="1300" b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300" b="1" u="sng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AYUSH Support: </a:t>
            </a:r>
            <a:r>
              <a:rPr lang="en-US" sz="1300" b="1" dirty="0">
                <a:latin typeface="Calibri"/>
                <a:ea typeface="Calibri"/>
                <a:cs typeface="Calibri"/>
              </a:rPr>
              <a:t>Dedicated </a:t>
            </a:r>
            <a:r>
              <a:rPr lang="en-US" sz="13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Dashavidha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Pariksha </a:t>
            </a:r>
            <a:r>
              <a:rPr lang="en-US" sz="1300" b="1" dirty="0">
                <a:latin typeface="Calibri"/>
                <a:ea typeface="Calibri"/>
                <a:cs typeface="Calibri"/>
              </a:rPr>
              <a:t>module — 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Prakriti, Vikriti, Agni, Koshtha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assessment plus 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Nidana and </a:t>
            </a:r>
            <a:r>
              <a:rPr lang="en-US" sz="13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Samprapti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documentation — mapped to NAMASTE and ICD-11 TM2 terminology for standardized diagnosis coding.</a:t>
            </a:r>
            <a:endParaRPr lang="en-US" sz="1300" b="1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300" b="1" u="sng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ABDM/FHIR Integration: </a:t>
            </a:r>
            <a:r>
              <a:rPr lang="en-US" sz="1300" b="1" dirty="0">
                <a:latin typeface="Calibri"/>
                <a:ea typeface="Calibri"/>
                <a:cs typeface="Calibri"/>
              </a:rPr>
              <a:t>Consent-based interoperability with 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ABHA, ABDM</a:t>
            </a:r>
            <a:r>
              <a:rPr lang="en-US" sz="1300" b="1" dirty="0">
                <a:latin typeface="Calibri"/>
                <a:ea typeface="Calibri"/>
                <a:cs typeface="Calibri"/>
              </a:rPr>
              <a:t>, and hospital 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HIS/EMR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systems using 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FHIR/HL7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standards, aligned with India's 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Digital Public Infrastructure (DPI).</a:t>
            </a:r>
            <a:endParaRPr lang="en-US" sz="1300" b="1">
              <a:solidFill>
                <a:srgbClr val="FF0000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300" b="1" u="sng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Secure &amp; Inclusive Design:</a:t>
            </a:r>
            <a:r>
              <a:rPr lang="en-US" sz="1300" b="1" u="sng" dirty="0"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RBAC (Role-Based Access Control), end-to-end encryption</a:t>
            </a:r>
            <a:r>
              <a:rPr lang="en-US" sz="1300" b="1" dirty="0">
                <a:latin typeface="Calibri"/>
                <a:ea typeface="Calibri"/>
                <a:cs typeface="Calibri"/>
              </a:rPr>
              <a:t>, and </a:t>
            </a:r>
            <a:r>
              <a:rPr lang="en-US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DPDP Act–compliant</a:t>
            </a:r>
            <a:r>
              <a:rPr lang="en-US" sz="1300" b="1" dirty="0">
                <a:latin typeface="Calibri"/>
                <a:ea typeface="Calibri"/>
                <a:cs typeface="Calibri"/>
              </a:rPr>
              <a:t> consent management, with multilingual voice guidance for elderly and low-literacy accessibility.</a:t>
            </a:r>
            <a:endParaRPr lang="en-US" sz="1300" b="1"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3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17A5FA0-B7D6-B0A0-481D-381DBF3A6EB1}"/>
              </a:ext>
            </a:extLst>
          </p:cNvPr>
          <p:cNvSpPr>
            <a:spLocks noGrp="1"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9442D1A-292C-833E-59A4-EF2BCA0C1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638" y="833120"/>
            <a:ext cx="5869204" cy="529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0BE8A06C-89A0-5A54-A84C-6F814C001D96}"/>
              </a:ext>
            </a:extLst>
          </p:cNvPr>
          <p:cNvSpPr txBox="1"/>
          <p:nvPr/>
        </p:nvSpPr>
        <p:spPr>
          <a:xfrm>
            <a:off x="4585456" y="1138601"/>
            <a:ext cx="2877554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Patient Entry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Gateway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Identity Verification</a:t>
            </a:r>
            <a:b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</a:b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(Multiple Methods: OTP/Aadhaar/ABHA/Ration)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Document Capture</a:t>
            </a:r>
            <a:b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</a:b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(OCR + AI Extraction)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Voice Input + AI Processing</a:t>
            </a:r>
            <a:b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</a:b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(Bhashini + VLLM)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Identity Resolution Engine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Identity DB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Store Documents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Document DB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Existing/New Patient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Existing → Patient DB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New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Questionnaire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i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(General/AYUSH) + voice output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AI Summary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Triage Decision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Emergency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→ Emergency → Priority Queue Token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Routine</a:t>
            </a: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→ Routine → Queue Token 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End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algn="l"/>
            <a:endParaRPr lang="en-US" sz="1200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222E90-E444-80BC-2462-347DC3E5F7A8}"/>
              </a:ext>
            </a:extLst>
          </p:cNvPr>
          <p:cNvSpPr txBox="1"/>
          <p:nvPr/>
        </p:nvSpPr>
        <p:spPr>
          <a:xfrm>
            <a:off x="8603999" y="2579999"/>
            <a:ext cx="2604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Figure of  BACKEND ARCHITECHTURE FLOWCHART</a:t>
            </a:r>
            <a:br>
              <a:rPr lang="en-US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</a:br>
            <a:br>
              <a:rPr lang="en-US">
                <a:solidFill>
                  <a:schemeClr val="bg1"/>
                </a:solidFill>
                <a:cs typeface="Calibri"/>
              </a:rPr>
            </a:br>
            <a:endParaRPr lang="en-US">
              <a:solidFill>
                <a:schemeClr val="bg1"/>
              </a:solidFill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59A707-0019-E9CC-2E24-6799EFBFC77A}"/>
              </a:ext>
            </a:extLst>
          </p:cNvPr>
          <p:cNvSpPr txBox="1"/>
          <p:nvPr/>
        </p:nvSpPr>
        <p:spPr>
          <a:xfrm>
            <a:off x="6398400" y="5716400"/>
            <a:ext cx="27480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Dart</a:t>
            </a:r>
            <a:endParaRPr lang="en-US">
              <a:solidFill>
                <a:schemeClr val="bg1"/>
              </a:solidFill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3AAD07-2DC6-8C37-C954-A9EA1E0B87BF}"/>
              </a:ext>
            </a:extLst>
          </p:cNvPr>
          <p:cNvSpPr txBox="1"/>
          <p:nvPr/>
        </p:nvSpPr>
        <p:spPr>
          <a:xfrm>
            <a:off x="5494160" y="5716400"/>
            <a:ext cx="27480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Meta</a:t>
            </a:r>
            <a:endParaRPr lang="en-US">
              <a:solidFill>
                <a:schemeClr val="bg1"/>
              </a:solidFill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2CED96-5202-BBB4-30A1-110A2083BD88}"/>
              </a:ext>
            </a:extLst>
          </p:cNvPr>
          <p:cNvSpPr txBox="1"/>
          <p:nvPr/>
        </p:nvSpPr>
        <p:spPr>
          <a:xfrm>
            <a:off x="3254194" y="5865835"/>
            <a:ext cx="27480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Reddis</a:t>
            </a:r>
            <a:endParaRPr lang="en-US">
              <a:solidFill>
                <a:schemeClr val="bg1"/>
              </a:solidFill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50E106-FFC0-191E-DDD2-D65AE8A59754}"/>
              </a:ext>
            </a:extLst>
          </p:cNvPr>
          <p:cNvSpPr txBox="1"/>
          <p:nvPr/>
        </p:nvSpPr>
        <p:spPr>
          <a:xfrm>
            <a:off x="3045600" y="5665600"/>
            <a:ext cx="27480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Google cloud</a:t>
            </a:r>
            <a:endParaRPr lang="en-US">
              <a:solidFill>
                <a:schemeClr val="bg1"/>
              </a:solidFill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2E1D1B-D74D-74AA-6644-1E170CB9E66B}"/>
              </a:ext>
            </a:extLst>
          </p:cNvPr>
          <p:cNvSpPr txBox="1"/>
          <p:nvPr/>
        </p:nvSpPr>
        <p:spPr>
          <a:xfrm>
            <a:off x="1999120" y="5675760"/>
            <a:ext cx="27480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FastAPI</a:t>
            </a:r>
            <a:endParaRPr lang="en-US">
              <a:solidFill>
                <a:schemeClr val="bg1"/>
              </a:solidFill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1BB04A-BD95-C23B-E69F-E0AB40F877AD}"/>
              </a:ext>
            </a:extLst>
          </p:cNvPr>
          <p:cNvSpPr txBox="1"/>
          <p:nvPr/>
        </p:nvSpPr>
        <p:spPr>
          <a:xfrm>
            <a:off x="1105040" y="5675760"/>
            <a:ext cx="27480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PostgreSQL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631666-EC40-F6B9-5B1E-C005CCC0B0C8}"/>
              </a:ext>
            </a:extLst>
          </p:cNvPr>
          <p:cNvSpPr txBox="1"/>
          <p:nvPr/>
        </p:nvSpPr>
        <p:spPr>
          <a:xfrm>
            <a:off x="332880" y="5675760"/>
            <a:ext cx="27480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Flutter</a:t>
            </a:r>
            <a:endParaRPr lang="en-US" sz="1400">
              <a:solidFill>
                <a:schemeClr val="bg1"/>
              </a:solidFill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F66033-4FAE-E3FC-E0D9-6F64F186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754" y="5732329"/>
            <a:ext cx="738917" cy="6045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F0AAF8-AEAF-DB2A-F167-76316F460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205" y="5570333"/>
            <a:ext cx="655353" cy="70438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36113"/>
            <a:ext cx="10972800" cy="1143000"/>
          </a:xfrm>
        </p:spPr>
        <p:txBody>
          <a:bodyPr/>
          <a:lstStyle/>
          <a:p>
            <a:pPr eaLnBrk="1" hangingPunct="1"/>
            <a:r>
              <a:rPr lang="en-US" sz="24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9860" y="1500"/>
            <a:ext cx="1850076" cy="873571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D3F058A-1588-EBF0-EB8E-DE40C33F190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22046" cy="30819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err="1"/>
              <a:t>matriX</a:t>
            </a:r>
            <a:endParaRPr lang="en-IN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E86C6-810E-3C1D-1753-ED869D51EE22}"/>
              </a:ext>
            </a:extLst>
          </p:cNvPr>
          <p:cNvSpPr txBox="1"/>
          <p:nvPr/>
        </p:nvSpPr>
        <p:spPr>
          <a:xfrm>
            <a:off x="100853" y="853359"/>
            <a:ext cx="589935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27355" indent="-414655">
              <a:spcBef>
                <a:spcPts val="1019"/>
              </a:spcBef>
              <a:buFont typeface="MS PGothic"/>
              <a:buChar char="❖"/>
              <a:tabLst>
                <a:tab pos="427355" algn="l"/>
              </a:tabLst>
            </a:pPr>
            <a:r>
              <a:rPr lang="en-IN" sz="2000" b="1" u="heavy" spc="-1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Arial"/>
                <a:ea typeface="ＭＳ Ｐゴシック"/>
                <a:cs typeface="Arial"/>
              </a:rPr>
              <a:t>Technology</a:t>
            </a:r>
            <a:r>
              <a:rPr lang="en-IN" sz="2000" b="1" u="heavy" spc="-5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Arial"/>
                <a:ea typeface="ＭＳ Ｐゴシック"/>
                <a:cs typeface="Arial"/>
              </a:rPr>
              <a:t> </a:t>
            </a:r>
            <a:r>
              <a:rPr lang="en-IN" sz="2000" b="1" u="heavy" spc="-1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Arial"/>
                <a:ea typeface="ＭＳ Ｐゴシック"/>
                <a:cs typeface="Arial"/>
              </a:rPr>
              <a:t>Stack:</a:t>
            </a:r>
            <a:endParaRPr lang="en-IN" sz="2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539E7C-14D1-9CD1-C6F5-8E42173CC409}"/>
              </a:ext>
            </a:extLst>
          </p:cNvPr>
          <p:cNvSpPr txBox="1"/>
          <p:nvPr/>
        </p:nvSpPr>
        <p:spPr>
          <a:xfrm>
            <a:off x="130523" y="1233920"/>
            <a:ext cx="6949666" cy="39651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09880" marR="91440" indent="-297815" algn="just">
              <a:spcBef>
                <a:spcPts val="100"/>
              </a:spcBef>
              <a:buFont typeface="Arial"/>
              <a:buChar char="●"/>
              <a:tabLst>
                <a:tab pos="309880" algn="l"/>
              </a:tabLst>
            </a:pPr>
            <a:r>
              <a:rPr lang="en-IN" sz="1600" b="1" u="sng" spc="-1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Frontend</a:t>
            </a:r>
            <a:r>
              <a:rPr lang="en-IN" sz="1600" b="1" spc="-1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:</a:t>
            </a:r>
            <a:r>
              <a:rPr lang="en-IN" sz="1600" b="1" spc="-10" dirty="0">
                <a:latin typeface="Calibri"/>
                <a:ea typeface="ＭＳ Ｐゴシック"/>
                <a:cs typeface="Calibri"/>
              </a:rPr>
              <a:t> Flutter, Dart</a:t>
            </a:r>
            <a:endParaRPr lang="en-US" sz="1600" dirty="0">
              <a:latin typeface="Calibri"/>
              <a:ea typeface="ＭＳ Ｐゴシック"/>
              <a:cs typeface="Calibri"/>
            </a:endParaRPr>
          </a:p>
          <a:p>
            <a:pPr marL="12065" marR="91440" algn="just">
              <a:spcBef>
                <a:spcPts val="100"/>
              </a:spcBef>
              <a:tabLst>
                <a:tab pos="309880" algn="l"/>
              </a:tabLst>
            </a:pPr>
            <a:endParaRPr lang="en-IN" sz="1600" b="1" spc="-10">
              <a:cs typeface="Calibri" pitchFamily="34" charset="0"/>
            </a:endParaRPr>
          </a:p>
          <a:p>
            <a:pPr marL="309880" marR="91440" indent="-297815" algn="just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09880" algn="l"/>
              </a:tabLst>
            </a:pPr>
            <a:r>
              <a:rPr lang="en-IN" sz="1600" b="1" u="sng" spc="-1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Backend </a:t>
            </a:r>
            <a:r>
              <a:rPr lang="en-IN" sz="1600" b="1" u="sng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/ API</a:t>
            </a:r>
            <a:r>
              <a:rPr lang="en-IN" sz="1600" b="1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:</a:t>
            </a:r>
            <a:r>
              <a:rPr lang="en-IN" sz="1600" b="1" spc="10" dirty="0">
                <a:latin typeface="Calibri"/>
                <a:ea typeface="ＭＳ Ｐゴシック"/>
                <a:cs typeface="Calibri"/>
              </a:rPr>
              <a:t> Python, </a:t>
            </a:r>
            <a:r>
              <a:rPr lang="en-IN" sz="1600" b="1" spc="-10" dirty="0" err="1">
                <a:latin typeface="Calibri"/>
                <a:ea typeface="ＭＳ Ｐゴシック"/>
                <a:cs typeface="Calibri"/>
              </a:rPr>
              <a:t>FastAPI</a:t>
            </a:r>
            <a:endParaRPr lang="en-IN" sz="1600" b="1" spc="-25" dirty="0">
              <a:latin typeface="Calibri"/>
              <a:ea typeface="ＭＳ Ｐゴシック"/>
              <a:cs typeface="Calibri"/>
            </a:endParaRPr>
          </a:p>
          <a:p>
            <a:pPr marL="12065" marR="91440" algn="just">
              <a:lnSpc>
                <a:spcPct val="100000"/>
              </a:lnSpc>
              <a:spcBef>
                <a:spcPts val="100"/>
              </a:spcBef>
              <a:tabLst>
                <a:tab pos="309880" algn="l"/>
              </a:tabLst>
            </a:pPr>
            <a:endParaRPr lang="en-IN" sz="1600">
              <a:latin typeface="Arial"/>
              <a:cs typeface="Arial"/>
            </a:endParaRPr>
          </a:p>
          <a:p>
            <a:pPr marL="309880" indent="-297180" algn="just">
              <a:buFont typeface="Arial"/>
              <a:buChar char="●"/>
              <a:tabLst>
                <a:tab pos="309880" algn="l"/>
              </a:tabLst>
            </a:pPr>
            <a:r>
              <a:rPr lang="en-IN" sz="1600" b="1" u="sng" spc="-1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Database</a:t>
            </a:r>
            <a:r>
              <a:rPr lang="en-IN" sz="1600" b="1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:</a:t>
            </a:r>
            <a:r>
              <a:rPr lang="en-IN" sz="1600" b="1" spc="-5" dirty="0">
                <a:latin typeface="Calibri"/>
                <a:ea typeface="ＭＳ Ｐゴシック"/>
                <a:cs typeface="Calibri"/>
              </a:rPr>
              <a:t> </a:t>
            </a:r>
            <a:r>
              <a:rPr lang="en-IN" sz="1600" b="1" spc="-10" dirty="0">
                <a:latin typeface="Calibri"/>
                <a:ea typeface="ＭＳ Ｐゴシック"/>
                <a:cs typeface="Calibri"/>
              </a:rPr>
              <a:t>Postgres,</a:t>
            </a:r>
            <a:r>
              <a:rPr lang="en-IN" sz="1600" b="1" spc="-15" dirty="0">
                <a:latin typeface="Calibri"/>
                <a:ea typeface="ＭＳ Ｐゴシック"/>
                <a:cs typeface="Calibri"/>
              </a:rPr>
              <a:t> Redis, Google Cloud</a:t>
            </a:r>
            <a:endParaRPr lang="en-IN" sz="1600" b="1" spc="-15" dirty="0">
              <a:latin typeface="Calibri"/>
              <a:cs typeface="Calibri"/>
            </a:endParaRPr>
          </a:p>
          <a:p>
            <a:pPr marL="309880" indent="-297180" algn="just">
              <a:lnSpc>
                <a:spcPct val="100000"/>
              </a:lnSpc>
              <a:buFont typeface="Arial"/>
              <a:buChar char="●"/>
              <a:tabLst>
                <a:tab pos="309880" algn="l"/>
              </a:tabLst>
            </a:pPr>
            <a:endParaRPr lang="en-IN" sz="1600" b="1" spc="-15">
              <a:latin typeface="Calibri"/>
              <a:cs typeface="Calibri"/>
            </a:endParaRPr>
          </a:p>
          <a:p>
            <a:pPr marL="309880" indent="-297180" algn="just">
              <a:buFont typeface="Arial"/>
              <a:buChar char="●"/>
              <a:tabLst>
                <a:tab pos="309880" algn="l"/>
              </a:tabLst>
            </a:pPr>
            <a:r>
              <a:rPr lang="en-IN" sz="1600" b="1" u="sng" spc="-25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AI/ML</a:t>
            </a:r>
            <a:r>
              <a:rPr lang="en-IN" sz="1600" b="1" spc="-25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: </a:t>
            </a:r>
            <a:r>
              <a:rPr lang="en-IN" sz="1600" b="1" spc="-25" dirty="0" err="1">
                <a:latin typeface="Calibri"/>
                <a:ea typeface="Calibri"/>
                <a:cs typeface="Calibri"/>
              </a:rPr>
              <a:t>vllm</a:t>
            </a:r>
            <a:r>
              <a:rPr lang="en-IN" sz="1600" b="1" spc="-25" dirty="0">
                <a:latin typeface="Calibri"/>
                <a:ea typeface="Calibri"/>
                <a:cs typeface="Calibri"/>
              </a:rPr>
              <a:t>, Transformers, Torch, OpenCV-python, </a:t>
            </a:r>
            <a:r>
              <a:rPr lang="en-IN" sz="1600" b="1" spc="-25" dirty="0" err="1">
                <a:latin typeface="Calibri"/>
                <a:ea typeface="Calibri"/>
                <a:cs typeface="Calibri"/>
              </a:rPr>
              <a:t>Pyaudio</a:t>
            </a:r>
            <a:r>
              <a:rPr lang="en-IN" sz="1600" b="1" spc="-25" dirty="0">
                <a:latin typeface="Calibri"/>
                <a:ea typeface="Calibri"/>
                <a:cs typeface="Calibri"/>
              </a:rPr>
              <a:t>, </a:t>
            </a:r>
            <a:r>
              <a:rPr lang="en-IN" sz="1600" b="1" spc="-25" dirty="0" err="1">
                <a:latin typeface="Calibri"/>
                <a:ea typeface="Calibri"/>
                <a:cs typeface="Calibri"/>
              </a:rPr>
              <a:t>PaddleOCR</a:t>
            </a:r>
            <a:endParaRPr lang="en-IN" sz="1600" b="1" spc="-25" dirty="0">
              <a:latin typeface="Calibri"/>
              <a:ea typeface="Calibri"/>
              <a:cs typeface="Calibri"/>
            </a:endParaRPr>
          </a:p>
          <a:p>
            <a:pPr marL="309880" indent="-297180" algn="just">
              <a:buFont typeface="Arial"/>
              <a:buChar char="●"/>
              <a:tabLst>
                <a:tab pos="309880" algn="l"/>
              </a:tabLst>
            </a:pPr>
            <a:endParaRPr lang="en-IN" sz="1600" b="1" spc="-25">
              <a:latin typeface="ＭＳ Ｐゴシック"/>
              <a:ea typeface="ＭＳ Ｐゴシック"/>
              <a:cs typeface="Calibri"/>
            </a:endParaRPr>
          </a:p>
          <a:p>
            <a:pPr marL="309880" indent="-297180" algn="just">
              <a:buFont typeface="Arial"/>
              <a:buChar char="●"/>
              <a:tabLst>
                <a:tab pos="309880" algn="l"/>
              </a:tabLst>
            </a:pPr>
            <a:r>
              <a:rPr lang="en-IN" sz="1600" b="1" u="sng" spc="-1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Deployment</a:t>
            </a:r>
            <a:r>
              <a:rPr lang="en-IN" sz="1600" b="1" spc="-1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 :</a:t>
            </a:r>
            <a:r>
              <a:rPr lang="en-IN" sz="1600" b="1" spc="-10" dirty="0">
                <a:latin typeface="Calibri"/>
                <a:ea typeface="ＭＳ Ｐゴシック"/>
                <a:cs typeface="Calibri"/>
              </a:rPr>
              <a:t> App release on Play store and App store</a:t>
            </a:r>
          </a:p>
          <a:p>
            <a:pPr marL="12700" algn="just">
              <a:tabLst>
                <a:tab pos="309880" algn="l"/>
              </a:tabLst>
            </a:pPr>
            <a:endParaRPr lang="en-IN" sz="1600" b="1" spc="-10">
              <a:latin typeface="Calibri"/>
              <a:cs typeface="Calibri"/>
            </a:endParaRPr>
          </a:p>
          <a:p>
            <a:pPr marL="309880" indent="-297180" algn="just">
              <a:buFont typeface="Arial"/>
              <a:buChar char="●"/>
              <a:tabLst>
                <a:tab pos="309880" algn="l"/>
              </a:tabLst>
            </a:pPr>
            <a:r>
              <a:rPr lang="en-IN" sz="1600" b="1" u="sng" spc="-1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API services</a:t>
            </a:r>
            <a:r>
              <a:rPr lang="en-IN" sz="1600" b="1" spc="-1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 :</a:t>
            </a:r>
            <a:r>
              <a:rPr lang="en-IN" sz="1600" b="1" spc="-10" dirty="0">
                <a:latin typeface="Calibri"/>
                <a:ea typeface="ＭＳ Ｐゴシック"/>
                <a:cs typeface="Calibri"/>
              </a:rPr>
              <a:t> Bhashini API, </a:t>
            </a:r>
            <a:r>
              <a:rPr lang="en-IN" sz="1600" b="1" spc="-10" dirty="0" err="1">
                <a:latin typeface="Calibri"/>
                <a:ea typeface="ＭＳ Ｐゴシック"/>
                <a:cs typeface="Calibri"/>
              </a:rPr>
              <a:t>vLLM</a:t>
            </a:r>
            <a:r>
              <a:rPr lang="en-IN" sz="1600" b="1" spc="-10" dirty="0">
                <a:latin typeface="Calibri"/>
                <a:ea typeface="ＭＳ Ｐゴシック"/>
                <a:cs typeface="Calibri"/>
              </a:rPr>
              <a:t> inference API, MSG91/</a:t>
            </a:r>
            <a:r>
              <a:rPr lang="en-IN" sz="1600" b="1" spc="-10" dirty="0" err="1">
                <a:latin typeface="Calibri"/>
                <a:ea typeface="ＭＳ Ｐゴシック"/>
                <a:cs typeface="Calibri"/>
              </a:rPr>
              <a:t>Twillio</a:t>
            </a:r>
            <a:r>
              <a:rPr lang="en-IN" sz="1600" b="1" spc="-10" dirty="0">
                <a:latin typeface="Calibri"/>
                <a:ea typeface="ＭＳ Ｐゴシック"/>
                <a:cs typeface="Calibri"/>
              </a:rPr>
              <a:t>, ABDM API, API </a:t>
            </a:r>
            <a:r>
              <a:rPr lang="en-IN" sz="1600" b="1" spc="-10" dirty="0" err="1">
                <a:latin typeface="Calibri"/>
                <a:ea typeface="ＭＳ Ｐゴシック"/>
                <a:cs typeface="Calibri"/>
              </a:rPr>
              <a:t>setu</a:t>
            </a:r>
            <a:r>
              <a:rPr lang="en-IN" sz="1600" b="1" spc="-10" dirty="0">
                <a:latin typeface="Calibri"/>
                <a:ea typeface="ＭＳ Ｐゴシック"/>
                <a:cs typeface="Calibri"/>
              </a:rPr>
              <a:t>, UIDAI ASA,AUA API</a:t>
            </a:r>
            <a:endParaRPr lang="en-IN" sz="1600" dirty="0">
              <a:latin typeface="Calibri"/>
              <a:cs typeface="Calibri"/>
            </a:endParaRPr>
          </a:p>
          <a:p>
            <a:pPr marL="309880" indent="-297180" algn="just">
              <a:spcBef>
                <a:spcPts val="1080"/>
              </a:spcBef>
              <a:buFont typeface="Arial"/>
              <a:buChar char="●"/>
              <a:tabLst>
                <a:tab pos="309880" algn="l"/>
              </a:tabLst>
            </a:pPr>
            <a:r>
              <a:rPr lang="en-IN" sz="1600" b="1" u="sng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Add Ons </a:t>
            </a:r>
            <a:r>
              <a:rPr lang="en-IN" sz="1600" b="1" spc="-1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:</a:t>
            </a:r>
            <a:r>
              <a:rPr lang="en-IN" sz="1600" b="1" spc="5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 </a:t>
            </a:r>
            <a:r>
              <a:rPr lang="en-IN" sz="1600" b="1" spc="5" dirty="0" err="1">
                <a:latin typeface="Calibri"/>
                <a:ea typeface="ＭＳ Ｐゴシック"/>
                <a:cs typeface="Calibri"/>
              </a:rPr>
              <a:t>IndicWhisper</a:t>
            </a:r>
            <a:r>
              <a:rPr lang="en-IN" sz="1600" b="1" spc="5" dirty="0">
                <a:latin typeface="Calibri"/>
                <a:ea typeface="ＭＳ Ｐゴシック"/>
                <a:cs typeface="Calibri"/>
              </a:rPr>
              <a:t>, IndicTrans2, </a:t>
            </a:r>
            <a:r>
              <a:rPr lang="en-IN" sz="1600" b="1" spc="5" dirty="0" err="1">
                <a:latin typeface="Calibri"/>
                <a:ea typeface="ＭＳ Ｐゴシック"/>
                <a:cs typeface="Calibri"/>
              </a:rPr>
              <a:t>IndicTTS</a:t>
            </a:r>
            <a:r>
              <a:rPr lang="en-IN" sz="1600" b="1" spc="5" dirty="0">
                <a:latin typeface="Calibri"/>
                <a:ea typeface="ＭＳ Ｐゴシック"/>
                <a:cs typeface="Calibri"/>
              </a:rPr>
              <a:t>, Sarvam-2B/llama-3, OpenCV, </a:t>
            </a:r>
            <a:r>
              <a:rPr lang="en-IN" sz="1600" b="1" spc="5" dirty="0" err="1">
                <a:latin typeface="Calibri"/>
                <a:ea typeface="ＭＳ Ｐゴシック"/>
                <a:cs typeface="Calibri"/>
              </a:rPr>
              <a:t>paddelOCR</a:t>
            </a:r>
            <a:r>
              <a:rPr lang="en-IN" sz="1600" b="1" spc="5" dirty="0">
                <a:latin typeface="Calibri"/>
                <a:ea typeface="ＭＳ Ｐゴシック"/>
                <a:cs typeface="Calibri"/>
              </a:rPr>
              <a:t>/tesseract, Ctranslate2, </a:t>
            </a:r>
            <a:r>
              <a:rPr lang="en-IN" sz="1600" b="1" spc="5" dirty="0" err="1">
                <a:latin typeface="Calibri"/>
                <a:ea typeface="ＭＳ Ｐゴシック"/>
                <a:cs typeface="Calibri"/>
              </a:rPr>
              <a:t>PyAudio</a:t>
            </a:r>
            <a:r>
              <a:rPr lang="en-IN" sz="1600" b="1" spc="5" dirty="0">
                <a:latin typeface="Calibri"/>
                <a:ea typeface="ＭＳ Ｐゴシック"/>
                <a:cs typeface="Calibri"/>
              </a:rPr>
              <a:t>, WebRTC VAD, </a:t>
            </a:r>
            <a:r>
              <a:rPr lang="en-IN" sz="1600" b="1" spc="5" dirty="0" err="1">
                <a:latin typeface="Calibri"/>
                <a:ea typeface="ＭＳ Ｐゴシック"/>
                <a:cs typeface="Calibri"/>
              </a:rPr>
              <a:t>Pydantic</a:t>
            </a:r>
            <a:r>
              <a:rPr lang="en-IN" sz="1600" b="1" spc="5" dirty="0">
                <a:latin typeface="Calibri"/>
                <a:ea typeface="ＭＳ Ｐゴシック"/>
                <a:cs typeface="Calibri"/>
              </a:rPr>
              <a:t>, </a:t>
            </a:r>
            <a:r>
              <a:rPr lang="en-IN" sz="1600" b="1" spc="5" dirty="0" err="1">
                <a:latin typeface="Calibri"/>
                <a:ea typeface="ＭＳ Ｐゴシック"/>
                <a:cs typeface="Calibri"/>
              </a:rPr>
              <a:t>HashiCorp</a:t>
            </a:r>
            <a:r>
              <a:rPr lang="en-IN" sz="1600" b="1" spc="5" dirty="0">
                <a:latin typeface="Calibri"/>
                <a:ea typeface="ＭＳ Ｐゴシック"/>
                <a:cs typeface="Calibri"/>
              </a:rPr>
              <a:t> Vault/KMS</a:t>
            </a:r>
            <a:endParaRPr lang="en-IN" sz="1600" spc="-20" dirty="0">
              <a:latin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26A6EA-DC68-F736-58AF-AC9A6CF2BE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3215" y="5209268"/>
            <a:ext cx="1057755" cy="3535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E43984A-0998-AA8B-6C7C-A6CED503A3B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475"/>
          <a:stretch>
            <a:fillRect/>
          </a:stretch>
        </p:blipFill>
        <p:spPr>
          <a:xfrm>
            <a:off x="7603556" y="1358166"/>
            <a:ext cx="4402803" cy="48502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1B1664-7ECE-D6CB-8FD7-FDD4C67C2D52}"/>
              </a:ext>
            </a:extLst>
          </p:cNvPr>
          <p:cNvSpPr txBox="1"/>
          <p:nvPr/>
        </p:nvSpPr>
        <p:spPr>
          <a:xfrm>
            <a:off x="8089621" y="840634"/>
            <a:ext cx="33560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27355" indent="-414655">
              <a:buFont typeface="MS PGothic,Sans-Serif"/>
              <a:buChar char="❖"/>
            </a:pPr>
            <a:r>
              <a:rPr lang="en-IN" sz="2000" b="1" u="sng">
                <a:solidFill>
                  <a:srgbClr val="1F497D"/>
                </a:solidFill>
                <a:latin typeface="Arial"/>
                <a:ea typeface="ＭＳ Ｐゴシック"/>
                <a:cs typeface="Arial"/>
              </a:rPr>
              <a:t>Backend Architecture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8D1F634-74F6-A6DF-7145-DB81C401A7A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3495" t="19400" b="14605"/>
          <a:stretch>
            <a:fillRect/>
          </a:stretch>
        </p:blipFill>
        <p:spPr>
          <a:xfrm>
            <a:off x="3948635" y="5153724"/>
            <a:ext cx="983156" cy="6403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2D2D49D-3E8C-90CC-A8BC-B3BD4D80485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2083" t="6061" r="2083" b="9091"/>
          <a:stretch>
            <a:fillRect/>
          </a:stretch>
        </p:blipFill>
        <p:spPr>
          <a:xfrm>
            <a:off x="5084448" y="5182429"/>
            <a:ext cx="728501" cy="647219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C3B908F-DCCE-0305-EBC8-9E909ADEAB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88756" y="5547704"/>
            <a:ext cx="1434353" cy="99358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AEAEE32-4ABF-BC48-6DE8-8CF9627F84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98112" y="5675760"/>
            <a:ext cx="1145241" cy="60063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764B451-5C53-70AF-8398-47E7EA6C5A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17526" y="5695846"/>
            <a:ext cx="493060" cy="54908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478D9C-D64C-C091-F506-C0B41CB6D239}"/>
              </a:ext>
            </a:extLst>
          </p:cNvPr>
          <p:cNvCxnSpPr/>
          <p:nvPr/>
        </p:nvCxnSpPr>
        <p:spPr>
          <a:xfrm>
            <a:off x="7266039" y="944354"/>
            <a:ext cx="0" cy="52292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4DF29C55-113E-4EAA-5D74-98F7E601D36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6740" t="17096" r="16314" b="16981"/>
          <a:stretch>
            <a:fillRect/>
          </a:stretch>
        </p:blipFill>
        <p:spPr>
          <a:xfrm>
            <a:off x="402595" y="5579669"/>
            <a:ext cx="655353" cy="64545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12E5439-E37F-AC43-976D-265D662BFAD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137" y="5235780"/>
            <a:ext cx="720736" cy="404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0B484A-A3F4-7ED4-4BC1-F077900FD48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1370" y="5339438"/>
            <a:ext cx="720736" cy="7758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4471B7-FE5B-EB9A-1653-A0553236869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31686" y="5227437"/>
            <a:ext cx="483330" cy="4635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BEDF0E-7638-DB00-F5C2-0DA5F1A4D7F7}"/>
              </a:ext>
            </a:extLst>
          </p:cNvPr>
          <p:cNvSpPr txBox="1"/>
          <p:nvPr/>
        </p:nvSpPr>
        <p:spPr>
          <a:xfrm>
            <a:off x="6263141" y="5003119"/>
            <a:ext cx="5931075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7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Python </a:t>
            </a:r>
          </a:p>
          <a:p>
            <a:pPr>
              <a:buFont typeface=""/>
              <a:buChar char="•"/>
            </a:pPr>
            <a:r>
              <a:rPr lang="en-US" sz="7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Flutter </a:t>
            </a:r>
          </a:p>
          <a:p>
            <a:pPr>
              <a:buFont typeface=""/>
              <a:buChar char="•"/>
            </a:pPr>
            <a:r>
              <a:rPr lang="en-US" sz="7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PostgreSQL </a:t>
            </a:r>
          </a:p>
          <a:p>
            <a:pPr>
              <a:buFont typeface=""/>
              <a:buChar char="•"/>
            </a:pPr>
            <a:r>
              <a:rPr lang="en-US" sz="7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Google Cloud </a:t>
            </a:r>
          </a:p>
          <a:p>
            <a:pPr>
              <a:buFont typeface=""/>
              <a:buChar char="•"/>
            </a:pPr>
            <a:r>
              <a:rPr lang="en-US" sz="7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Frappe </a:t>
            </a:r>
          </a:p>
          <a:p>
            <a:pPr>
              <a:buFont typeface=""/>
              <a:buChar char="•"/>
            </a:pPr>
            <a:r>
              <a:rPr lang="en-US" sz="7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Redis </a:t>
            </a:r>
          </a:p>
          <a:p>
            <a:pPr>
              <a:buFont typeface=""/>
              <a:buChar char="•"/>
            </a:pPr>
            <a:r>
              <a:rPr lang="en-US" sz="7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Aadhaar </a:t>
            </a:r>
          </a:p>
          <a:p>
            <a:pPr>
              <a:buFont typeface=""/>
              <a:buChar char="•"/>
            </a:pPr>
            <a:r>
              <a:rPr lang="en-US" sz="7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Meta </a:t>
            </a:r>
          </a:p>
          <a:p>
            <a:pPr>
              <a:buFont typeface=""/>
              <a:buChar char="•"/>
            </a:pPr>
            <a:r>
              <a:rPr lang="en-US" sz="7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Twilio </a:t>
            </a:r>
          </a:p>
          <a:p>
            <a:pPr>
              <a:buFont typeface=""/>
              <a:buChar char="•"/>
            </a:pPr>
            <a:r>
              <a:rPr lang="en-US" sz="7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Sarvam AI </a:t>
            </a:r>
          </a:p>
          <a:p>
            <a:pPr>
              <a:buFont typeface=""/>
              <a:buChar char="•"/>
            </a:pPr>
            <a:r>
              <a:rPr lang="en-US" sz="7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Dart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331C610-38E4-F38D-F847-5B8675DB3E36}"/>
              </a:ext>
            </a:extLst>
          </p:cNvPr>
          <p:cNvSpPr/>
          <p:nvPr/>
        </p:nvSpPr>
        <p:spPr>
          <a:xfrm>
            <a:off x="234413" y="630932"/>
            <a:ext cx="3548016" cy="2858138"/>
          </a:xfrm>
          <a:prstGeom prst="roundRect">
            <a:avLst>
              <a:gd name="adj" fmla="val 6089"/>
            </a:avLst>
          </a:prstGeom>
          <a:solidFill>
            <a:srgbClr val="EDF0F7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D6F8276-743D-C42C-B931-D28A32AB94FD}"/>
              </a:ext>
            </a:extLst>
          </p:cNvPr>
          <p:cNvSpPr/>
          <p:nvPr/>
        </p:nvSpPr>
        <p:spPr>
          <a:xfrm>
            <a:off x="227314" y="3579776"/>
            <a:ext cx="3544853" cy="2666208"/>
          </a:xfrm>
          <a:prstGeom prst="roundRect">
            <a:avLst>
              <a:gd name="adj" fmla="val 6341"/>
            </a:avLst>
          </a:prstGeom>
          <a:solidFill>
            <a:srgbClr val="FAEDED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8A6D0E-E9A3-F777-BFF7-FDA2011C0A2F}"/>
              </a:ext>
            </a:extLst>
          </p:cNvPr>
          <p:cNvSpPr txBox="1"/>
          <p:nvPr/>
        </p:nvSpPr>
        <p:spPr>
          <a:xfrm>
            <a:off x="-75029" y="635152"/>
            <a:ext cx="4188204" cy="29007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93370" algn="just">
              <a:lnSpc>
                <a:spcPct val="100000"/>
              </a:lnSpc>
              <a:spcBef>
                <a:spcPts val="100"/>
              </a:spcBef>
            </a:pPr>
            <a:r>
              <a:rPr lang="en-US" sz="2000" b="1" u="heavy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Feasibility </a:t>
            </a:r>
            <a:r>
              <a:rPr lang="en-US" sz="2000" b="1" u="heavy" spc="-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:  </a:t>
            </a:r>
            <a:endParaRPr lang="en-US" sz="2000" b="1" u="heavy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alibri"/>
              <a:ea typeface="ＭＳ Ｐゴシック"/>
              <a:cs typeface="Calibri"/>
            </a:endParaRPr>
          </a:p>
          <a:p>
            <a:pPr marL="481330" marR="459105" indent="-171450" algn="just">
              <a:buFont typeface="Arial" panose="020B0604020202020204" pitchFamily="34" charset="0"/>
              <a:buChar char="•"/>
            </a:pPr>
            <a:r>
              <a:rPr lang="en-IN" sz="1250" b="1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Proven Multi-Engine Stack: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 Integrates Indian-language ASR </a:t>
            </a:r>
            <a:r>
              <a:rPr lang="en-IN" sz="125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(Bhashini)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, specialized medical OCR (Tesseract), and local LLMs </a:t>
            </a:r>
            <a:r>
              <a:rPr lang="en-IN" sz="125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(Llama 3 via </a:t>
            </a:r>
            <a:r>
              <a:rPr lang="en-IN" sz="1250" dirty="0" err="1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Ollama</a:t>
            </a:r>
            <a:r>
              <a:rPr lang="en-IN" sz="125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)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 into a single multimodal voice/touch interface.</a:t>
            </a:r>
          </a:p>
          <a:p>
            <a:pPr marL="481330" marR="459105" indent="-171450" algn="just">
              <a:buFont typeface="Arial" panose="020B0604020202020204" pitchFamily="34" charset="0"/>
              <a:buChar char="•"/>
            </a:pPr>
            <a:r>
              <a:rPr lang="en-IN" sz="1250" b="1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National Interoperability: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 Uses open </a:t>
            </a:r>
            <a:r>
              <a:rPr lang="en-IN" sz="125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FHIR APIs</a:t>
            </a:r>
            <a:r>
              <a:rPr lang="en-IN" sz="125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 and </a:t>
            </a:r>
            <a:r>
              <a:rPr lang="en-IN" sz="125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ABDM/ABHA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 gateways to pull past health profiles and push standardized clinical intake summaries.</a:t>
            </a:r>
          </a:p>
          <a:p>
            <a:pPr marL="481330" marR="459105" indent="-171450" algn="just">
              <a:buFont typeface="Arial" panose="020B0604020202020204" pitchFamily="34" charset="0"/>
              <a:buChar char="•"/>
            </a:pPr>
            <a:r>
              <a:rPr lang="en-IN" sz="1250" b="1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Flexible Deployment:</a:t>
            </a:r>
            <a:r>
              <a:rPr lang="en-IN" sz="1250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 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Supports hybrid cloud and edge on-premises instances to maintain uptime in low-connectivity government hospital environments.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82B6417-302F-8777-21CC-48D6A4BB3DA1}"/>
              </a:ext>
            </a:extLst>
          </p:cNvPr>
          <p:cNvSpPr/>
          <p:nvPr/>
        </p:nvSpPr>
        <p:spPr>
          <a:xfrm>
            <a:off x="8140975" y="686931"/>
            <a:ext cx="3855811" cy="2700429"/>
          </a:xfrm>
          <a:prstGeom prst="roundRect">
            <a:avLst>
              <a:gd name="adj" fmla="val 9021"/>
            </a:avLst>
          </a:prstGeom>
          <a:solidFill>
            <a:srgbClr val="EDF0F7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9979ED-D230-3043-05BC-F77DD8BB7773}"/>
              </a:ext>
            </a:extLst>
          </p:cNvPr>
          <p:cNvSpPr/>
          <p:nvPr/>
        </p:nvSpPr>
        <p:spPr>
          <a:xfrm>
            <a:off x="8140977" y="3535946"/>
            <a:ext cx="3855810" cy="2649160"/>
          </a:xfrm>
          <a:prstGeom prst="roundRect">
            <a:avLst>
              <a:gd name="adj" fmla="val 7759"/>
            </a:avLst>
          </a:prstGeom>
          <a:solidFill>
            <a:srgbClr val="FAEDED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C85D8CF-3118-4CB5-BF66-65EC2FA5B2AE}"/>
              </a:ext>
            </a:extLst>
          </p:cNvPr>
          <p:cNvSpPr/>
          <p:nvPr/>
        </p:nvSpPr>
        <p:spPr>
          <a:xfrm>
            <a:off x="3883742" y="4454138"/>
            <a:ext cx="4195084" cy="1764704"/>
          </a:xfrm>
          <a:prstGeom prst="roundRect">
            <a:avLst>
              <a:gd name="adj" fmla="val 11652"/>
            </a:avLst>
          </a:prstGeom>
          <a:solidFill>
            <a:srgbClr val="EDF0F7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214CF7-B7FD-B6A5-7DD1-CC737FA60F3D}"/>
              </a:ext>
            </a:extLst>
          </p:cNvPr>
          <p:cNvSpPr txBox="1"/>
          <p:nvPr/>
        </p:nvSpPr>
        <p:spPr>
          <a:xfrm>
            <a:off x="3637921" y="4480436"/>
            <a:ext cx="4291474" cy="17466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00355" algn="just">
              <a:lnSpc>
                <a:spcPct val="100000"/>
              </a:lnSpc>
              <a:spcBef>
                <a:spcPts val="100"/>
              </a:spcBef>
            </a:pPr>
            <a:r>
              <a:rPr lang="en-US" sz="2000" b="1" u="heavy" spc="-10" dirty="0"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Challenges</a:t>
            </a:r>
            <a:r>
              <a:rPr lang="en-US" sz="2000" b="1" u="heavy" spc="-15" dirty="0"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 </a:t>
            </a:r>
            <a:r>
              <a:rPr lang="en-US" sz="2000" b="1" u="heavy" spc="-10" dirty="0"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:</a:t>
            </a:r>
            <a:endParaRPr lang="en-US" sz="2000" dirty="0">
              <a:latin typeface="Calibri"/>
              <a:ea typeface="ＭＳ Ｐゴシック"/>
              <a:cs typeface="Calibri"/>
            </a:endParaRPr>
          </a:p>
          <a:p>
            <a:pPr marL="595630" marR="5080" indent="-285750" algn="just">
              <a:buFont typeface="Arial" panose="020B0604020202020204" pitchFamily="34" charset="0"/>
              <a:buChar char="•"/>
            </a:pPr>
            <a:r>
              <a:rPr lang="en-IN" sz="1250" b="1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Handwritten Record Degradation: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 Addressed via multi-pass confidence scoring that flags low-certainty medication names for physician confirmation.</a:t>
            </a:r>
          </a:p>
          <a:p>
            <a:pPr marL="595630" marR="508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50" b="1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Multilingual &amp; Voice Accuracy:</a:t>
            </a:r>
            <a:r>
              <a:rPr lang="en-IN" sz="1250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 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Handling different </a:t>
            </a:r>
            <a:r>
              <a:rPr lang="en-IN" sz="125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Indian languages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, accents, pronunciation, and medical terminology accurately during </a:t>
            </a:r>
            <a:r>
              <a:rPr lang="en-IN" sz="125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voice-based interaction.</a:t>
            </a:r>
            <a:endParaRPr lang="en-US" sz="1250" spc="-10">
              <a:solidFill>
                <a:srgbClr val="C00000"/>
              </a:solidFill>
              <a:latin typeface="Calibri"/>
              <a:ea typeface="ＭＳ Ｐゴシック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15F76-9B02-7E28-F841-D33ADF277B7E}"/>
              </a:ext>
            </a:extLst>
          </p:cNvPr>
          <p:cNvSpPr txBox="1"/>
          <p:nvPr/>
        </p:nvSpPr>
        <p:spPr>
          <a:xfrm>
            <a:off x="7914969" y="3607533"/>
            <a:ext cx="4188204" cy="25160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09880" marR="459105">
              <a:lnSpc>
                <a:spcPct val="100000"/>
              </a:lnSpc>
            </a:pPr>
            <a:r>
              <a:rPr lang="en-US" sz="2000" b="1" u="heavy" spc="-10" dirty="0"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Viability</a:t>
            </a:r>
            <a:r>
              <a:rPr lang="en-US" sz="2000" b="1" u="heavy" spc="5" dirty="0"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 </a:t>
            </a:r>
            <a:r>
              <a:rPr lang="en-US" sz="2000" b="1" u="heavy" spc="-50" dirty="0"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:</a:t>
            </a:r>
            <a:endParaRPr lang="en-US" sz="2000" dirty="0">
              <a:latin typeface="Calibri"/>
              <a:ea typeface="ＭＳ Ｐゴシック"/>
              <a:cs typeface="Calibri"/>
            </a:endParaRPr>
          </a:p>
          <a:p>
            <a:pPr marL="481330" marR="175895" indent="-171450" algn="just">
              <a:buFont typeface="Arial" panose="020B0604020202020204" pitchFamily="34" charset="0"/>
              <a:buChar char="•"/>
            </a:pPr>
            <a:r>
              <a:rPr lang="en-IN" sz="1250" b="1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Time &amp; Workload Compression: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 Cuts doctor documentation time by over 60%, directly resolving the critical 2-to-5-minute OPD consultation bottleneck.</a:t>
            </a:r>
          </a:p>
          <a:p>
            <a:pPr marL="481330" marR="175895" indent="-171450" algn="just">
              <a:buFont typeface="Arial" panose="020B0604020202020204" pitchFamily="34" charset="0"/>
              <a:buChar char="•"/>
            </a:pPr>
            <a:r>
              <a:rPr lang="en-IN" sz="1250" b="1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Modular Integration: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 Plugs smoothly into existing Hospital Information Systems (HIS) with zero disruption to current doctor diagnostic authority.</a:t>
            </a:r>
          </a:p>
          <a:p>
            <a:pPr marL="481330" marR="175895" indent="-171450" algn="just">
              <a:buFont typeface="Arial" panose="020B0604020202020204" pitchFamily="34" charset="0"/>
              <a:buChar char="•"/>
            </a:pPr>
            <a:r>
              <a:rPr lang="en-IN" sz="1250" b="1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Universal Usability:</a:t>
            </a:r>
            <a:r>
              <a:rPr lang="en-IN" sz="1250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 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Icon-driven visual navigation paired with voice-guided prompts ensures effortless self-service for </a:t>
            </a:r>
            <a:r>
              <a:rPr lang="en-IN" sz="125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elderly and low-literacy patients.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18873B-22F4-E0AA-140E-70331E943157}"/>
              </a:ext>
            </a:extLst>
          </p:cNvPr>
          <p:cNvSpPr txBox="1"/>
          <p:nvPr/>
        </p:nvSpPr>
        <p:spPr>
          <a:xfrm>
            <a:off x="8078826" y="780891"/>
            <a:ext cx="3823746" cy="25160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00355" algn="just">
              <a:lnSpc>
                <a:spcPct val="100000"/>
              </a:lnSpc>
              <a:spcBef>
                <a:spcPts val="100"/>
              </a:spcBef>
            </a:pPr>
            <a:r>
              <a:rPr lang="en-US" sz="2000" b="1" u="heavy" dirty="0"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Use</a:t>
            </a:r>
            <a:r>
              <a:rPr lang="en-US" sz="2000" b="1" u="heavy" spc="-15" dirty="0"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 </a:t>
            </a:r>
            <a:r>
              <a:rPr lang="en-US" sz="2000" b="1" u="heavy" spc="-10" dirty="0"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Cases:</a:t>
            </a:r>
            <a:endParaRPr lang="en-US" sz="2000" dirty="0">
              <a:latin typeface="Calibri"/>
              <a:ea typeface="ＭＳ Ｐゴシック"/>
              <a:cs typeface="Calibri"/>
            </a:endParaRPr>
          </a:p>
          <a:p>
            <a:pPr marL="309880" indent="-297180" algn="just">
              <a:spcBef>
                <a:spcPts val="15"/>
              </a:spcBef>
              <a:buFont typeface="Arial" panose="020B0604020202020204" pitchFamily="34" charset="0"/>
              <a:buChar char="•"/>
              <a:tabLst>
                <a:tab pos="309880" algn="l"/>
              </a:tabLst>
            </a:pPr>
            <a:r>
              <a:rPr lang="en-IN" sz="1250" b="1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Lobby Clinical Triage: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 Gathers structured chief complaints, HPI, and specialized AYUSH assessments </a:t>
            </a:r>
            <a:r>
              <a:rPr lang="en-IN" sz="125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(</a:t>
            </a:r>
            <a:r>
              <a:rPr lang="en-IN" sz="1250" dirty="0" err="1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Dashavidha</a:t>
            </a:r>
            <a:r>
              <a:rPr lang="en-IN" sz="125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 Pariksha)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 while patients wait.</a:t>
            </a:r>
          </a:p>
          <a:p>
            <a:pPr marL="309880" indent="-297180" algn="just">
              <a:spcBef>
                <a:spcPts val="15"/>
              </a:spcBef>
              <a:buFont typeface="Arial" panose="020B0604020202020204" pitchFamily="34" charset="0"/>
              <a:buChar char="•"/>
              <a:tabLst>
                <a:tab pos="309880" algn="l"/>
              </a:tabLst>
            </a:pPr>
            <a:r>
              <a:rPr lang="en-IN" sz="1250" b="1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Paper Record Digitization:</a:t>
            </a:r>
            <a:r>
              <a:rPr lang="en-IN" sz="1250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 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Scans, dates, and organizes scattered physical prescriptions and lab reports, </a:t>
            </a:r>
            <a:r>
              <a:rPr lang="en-IN" sz="125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flagging abnormal values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 chronologically.</a:t>
            </a:r>
          </a:p>
          <a:p>
            <a:pPr marL="298450" indent="-285750" algn="just">
              <a:spcBef>
                <a:spcPts val="15"/>
              </a:spcBef>
              <a:buFont typeface="Arial" panose="020B0604020202020204" pitchFamily="34" charset="0"/>
              <a:buChar char="•"/>
              <a:tabLst>
                <a:tab pos="309880" algn="l"/>
              </a:tabLst>
            </a:pPr>
            <a:r>
              <a:rPr lang="en-IN" sz="1250" b="1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Physician Summary Generation: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 Delivers an editable, </a:t>
            </a:r>
            <a:r>
              <a:rPr lang="en-IN" sz="125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pre-consultation draft summary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 directly to the doctor's screen alongside a physical OPD routing slip.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457433" y="180113"/>
            <a:ext cx="9277131" cy="302346"/>
          </a:xfrm>
        </p:spPr>
        <p:txBody>
          <a:bodyPr/>
          <a:lstStyle/>
          <a:p>
            <a:pPr eaLnBrk="1" hangingPunct="1"/>
            <a:r>
              <a:rPr lang="en-US" sz="2400" b="1">
                <a:latin typeface="Times New Roman"/>
                <a:ea typeface="ＭＳ Ｐゴシック"/>
                <a:cs typeface="Times New Roman"/>
              </a:rPr>
              <a:t>FEASIBILITY AND VIABILITY</a:t>
            </a:r>
            <a:endParaRPr lang="en-US" sz="24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311" y="1501"/>
            <a:ext cx="1451624" cy="685430"/>
          </a:xfrm>
          <a:prstGeom prst="rect">
            <a:avLst/>
          </a:prstGeom>
        </p:spPr>
      </p:pic>
      <p:sp>
        <p:nvSpPr>
          <p:cNvPr id="18" name="Oval 17" descr="Your startup LOGO">
            <a:extLst>
              <a:ext uri="{FF2B5EF4-FFF2-40B4-BE49-F238E27FC236}">
                <a16:creationId xmlns:a16="http://schemas.microsoft.com/office/drawing/2014/main" id="{6EB39ECC-5DFA-DC92-2F6B-B635834395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820" y="91583"/>
            <a:ext cx="1322046" cy="30819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err="1"/>
              <a:t>matriX</a:t>
            </a:r>
            <a:endParaRPr lang="en-IN" b="1"/>
          </a:p>
        </p:txBody>
      </p:sp>
      <p:pic>
        <p:nvPicPr>
          <p:cNvPr id="24" name="object 21">
            <a:extLst>
              <a:ext uri="{FF2B5EF4-FFF2-40B4-BE49-F238E27FC236}">
                <a16:creationId xmlns:a16="http://schemas.microsoft.com/office/drawing/2014/main" id="{5ADB4400-79C5-D9B6-4596-C78D755961E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8013" y="4483904"/>
            <a:ext cx="285549" cy="285481"/>
          </a:xfrm>
          <a:prstGeom prst="rect">
            <a:avLst/>
          </a:prstGeom>
        </p:spPr>
      </p:pic>
      <p:pic>
        <p:nvPicPr>
          <p:cNvPr id="26" name="object 17">
            <a:extLst>
              <a:ext uri="{FF2B5EF4-FFF2-40B4-BE49-F238E27FC236}">
                <a16:creationId xmlns:a16="http://schemas.microsoft.com/office/drawing/2014/main" id="{A7BD5C41-CFC4-0E01-8E23-263346CB535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78630" y="3592218"/>
            <a:ext cx="279042" cy="363929"/>
          </a:xfrm>
          <a:prstGeom prst="rect">
            <a:avLst/>
          </a:prstGeom>
        </p:spPr>
      </p:pic>
      <p:pic>
        <p:nvPicPr>
          <p:cNvPr id="28" name="object 12">
            <a:extLst>
              <a:ext uri="{FF2B5EF4-FFF2-40B4-BE49-F238E27FC236}">
                <a16:creationId xmlns:a16="http://schemas.microsoft.com/office/drawing/2014/main" id="{F5AE637F-CDD6-2993-726E-5A81B979B9C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42967" y="719516"/>
            <a:ext cx="294967" cy="332537"/>
          </a:xfrm>
          <a:prstGeom prst="rect">
            <a:avLst/>
          </a:prstGeom>
        </p:spPr>
      </p:pic>
      <p:pic>
        <p:nvPicPr>
          <p:cNvPr id="36" name="object 23">
            <a:extLst>
              <a:ext uri="{FF2B5EF4-FFF2-40B4-BE49-F238E27FC236}">
                <a16:creationId xmlns:a16="http://schemas.microsoft.com/office/drawing/2014/main" id="{6BEBF191-B757-3356-8B5A-2F4EB80B4E4E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61130" y="787817"/>
            <a:ext cx="382448" cy="306944"/>
          </a:xfrm>
          <a:prstGeom prst="rect">
            <a:avLst/>
          </a:prstGeom>
        </p:spPr>
      </p:pic>
      <p:pic>
        <p:nvPicPr>
          <p:cNvPr id="38" name="object 27">
            <a:extLst>
              <a:ext uri="{FF2B5EF4-FFF2-40B4-BE49-F238E27FC236}">
                <a16:creationId xmlns:a16="http://schemas.microsoft.com/office/drawing/2014/main" id="{97B0EFB1-5D25-8189-7CBC-F10588ACA233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22271" y="3644724"/>
            <a:ext cx="294967" cy="3114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820B52-E99E-0E8F-0B03-E435529DBA8B}"/>
              </a:ext>
            </a:extLst>
          </p:cNvPr>
          <p:cNvSpPr txBox="1"/>
          <p:nvPr/>
        </p:nvSpPr>
        <p:spPr>
          <a:xfrm>
            <a:off x="234413" y="3622866"/>
            <a:ext cx="3436675" cy="2562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2065" marR="13335" algn="just">
              <a:lnSpc>
                <a:spcPct val="114999"/>
              </a:lnSpc>
              <a:tabLst>
                <a:tab pos="309880" algn="l"/>
              </a:tabLst>
            </a:pPr>
            <a:r>
              <a:rPr lang="en-US" sz="2000" b="1" u="heavy" dirty="0"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Business</a:t>
            </a:r>
            <a:r>
              <a:rPr lang="en-US" sz="2000" b="1" u="heavy" spc="-35" dirty="0"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 </a:t>
            </a:r>
            <a:r>
              <a:rPr lang="en-US" sz="2000" b="1" u="heavy" spc="-10" dirty="0"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Potential:</a:t>
            </a:r>
          </a:p>
          <a:p>
            <a:pPr marL="297815" marR="13335" indent="-285750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09880" algn="l"/>
              </a:tabLst>
            </a:pPr>
            <a:r>
              <a:rPr lang="en-IN" sz="1250" b="1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Private Healthcare SaaS:</a:t>
            </a:r>
            <a:r>
              <a:rPr lang="en-IN" sz="1250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 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Tiered subscription licensing for private </a:t>
            </a:r>
            <a:r>
              <a:rPr lang="en-IN" sz="125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hospital chains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, corporate polyclinics, and high-volume outpatient facilities.</a:t>
            </a:r>
          </a:p>
          <a:p>
            <a:pPr marL="309880" marR="13335" indent="-297815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09880" algn="l"/>
              </a:tabLst>
            </a:pPr>
            <a:r>
              <a:rPr lang="en-IN" sz="1250" b="1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Diagnostic &amp; Telehealth Expansion:</a:t>
            </a:r>
            <a:r>
              <a:rPr lang="en-IN" sz="1250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 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Strategic integration with diagnostic lab networks for report aggregation and digital tele-triage intake.</a:t>
            </a:r>
          </a:p>
          <a:p>
            <a:pPr marL="309880" marR="13335" indent="-297815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09880" algn="l"/>
              </a:tabLst>
            </a:pPr>
            <a:r>
              <a:rPr lang="en-IN" sz="1250" b="1" dirty="0">
                <a:solidFill>
                  <a:srgbClr val="0033CC"/>
                </a:solidFill>
                <a:latin typeface="Calibri"/>
                <a:ea typeface="ＭＳ Ｐゴシック"/>
                <a:cs typeface="Calibri"/>
              </a:rPr>
              <a:t>Growing Digital Health Market: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 Integrate with </a:t>
            </a:r>
            <a:r>
              <a:rPr lang="en-IN" sz="125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ABDM/FHIR</a:t>
            </a:r>
            <a:r>
              <a:rPr lang="en-IN" sz="1250" dirty="0">
                <a:latin typeface="Calibri"/>
                <a:ea typeface="ＭＳ Ｐゴシック"/>
                <a:cs typeface="Calibri"/>
              </a:rPr>
              <a:t> and expand across India’s digital healthcare ecosystem.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E1C2EA6-D16B-6BC3-20AB-F603885FB6AB}"/>
              </a:ext>
            </a:extLst>
          </p:cNvPr>
          <p:cNvGrpSpPr/>
          <p:nvPr/>
        </p:nvGrpSpPr>
        <p:grpSpPr>
          <a:xfrm>
            <a:off x="5239154" y="686931"/>
            <a:ext cx="1620871" cy="3246122"/>
            <a:chOff x="4948224" y="521005"/>
            <a:chExt cx="2028828" cy="395792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597BE32-915E-1EDE-6BF6-FD865D85E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17446" t="8326" r="18154" b="7985"/>
            <a:stretch>
              <a:fillRect/>
            </a:stretch>
          </p:blipFill>
          <p:spPr>
            <a:xfrm>
              <a:off x="4948224" y="521005"/>
              <a:ext cx="2028828" cy="395792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FBD02E-23EF-C44C-D3E0-143159BD0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48198" y="824527"/>
              <a:ext cx="1838622" cy="365440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cxnSp>
        <p:nvCxnSpPr>
          <p:cNvPr id="17436" name="Connector: Curved 17435">
            <a:extLst>
              <a:ext uri="{FF2B5EF4-FFF2-40B4-BE49-F238E27FC236}">
                <a16:creationId xmlns:a16="http://schemas.microsoft.com/office/drawing/2014/main" id="{ED6FAF98-2B37-CD5B-0C89-F066B673A9B5}"/>
              </a:ext>
            </a:extLst>
          </p:cNvPr>
          <p:cNvCxnSpPr>
            <a:cxnSpLocks/>
          </p:cNvCxnSpPr>
          <p:nvPr/>
        </p:nvCxnSpPr>
        <p:spPr>
          <a:xfrm flipV="1">
            <a:off x="6860025" y="1470816"/>
            <a:ext cx="1185652" cy="103226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5" name="Connector: Curved 17454">
            <a:extLst>
              <a:ext uri="{FF2B5EF4-FFF2-40B4-BE49-F238E27FC236}">
                <a16:creationId xmlns:a16="http://schemas.microsoft.com/office/drawing/2014/main" id="{01EF4076-1C85-91A8-FE14-2D1808EAA0E4}"/>
              </a:ext>
            </a:extLst>
          </p:cNvPr>
          <p:cNvCxnSpPr>
            <a:cxnSpLocks/>
          </p:cNvCxnSpPr>
          <p:nvPr/>
        </p:nvCxnSpPr>
        <p:spPr>
          <a:xfrm>
            <a:off x="6845524" y="2766659"/>
            <a:ext cx="1185652" cy="103226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7" name="Connector: Curved 17456">
            <a:extLst>
              <a:ext uri="{FF2B5EF4-FFF2-40B4-BE49-F238E27FC236}">
                <a16:creationId xmlns:a16="http://schemas.microsoft.com/office/drawing/2014/main" id="{EAC4F235-694F-7C83-EF95-0566A5821AED}"/>
              </a:ext>
            </a:extLst>
          </p:cNvPr>
          <p:cNvCxnSpPr>
            <a:cxnSpLocks/>
          </p:cNvCxnSpPr>
          <p:nvPr/>
        </p:nvCxnSpPr>
        <p:spPr>
          <a:xfrm flipH="1" flipV="1">
            <a:off x="3994258" y="1496164"/>
            <a:ext cx="1185652" cy="103226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8" name="Connector: Curved 17457">
            <a:extLst>
              <a:ext uri="{FF2B5EF4-FFF2-40B4-BE49-F238E27FC236}">
                <a16:creationId xmlns:a16="http://schemas.microsoft.com/office/drawing/2014/main" id="{83769F5C-9C00-B5C7-FAFD-58FD879207CF}"/>
              </a:ext>
            </a:extLst>
          </p:cNvPr>
          <p:cNvCxnSpPr>
            <a:cxnSpLocks/>
          </p:cNvCxnSpPr>
          <p:nvPr/>
        </p:nvCxnSpPr>
        <p:spPr>
          <a:xfrm flipH="1">
            <a:off x="3979757" y="2792007"/>
            <a:ext cx="1185652" cy="103226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9" name="Connector: Curved 17458">
            <a:extLst>
              <a:ext uri="{FF2B5EF4-FFF2-40B4-BE49-F238E27FC236}">
                <a16:creationId xmlns:a16="http://schemas.microsoft.com/office/drawing/2014/main" id="{22B58ACB-8D96-E262-13E6-B7C72C20943C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5802397" y="4184137"/>
            <a:ext cx="502169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9823B3-E7B5-DAC0-306D-E6C3E3FEA53E}"/>
              </a:ext>
            </a:extLst>
          </p:cNvPr>
          <p:cNvSpPr txBox="1"/>
          <p:nvPr/>
        </p:nvSpPr>
        <p:spPr>
          <a:xfrm>
            <a:off x="1673245" y="99143"/>
            <a:ext cx="2318605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KEY BENEFITS</a:t>
            </a: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Inclusive Access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Simplified Intake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Unified Medical Records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Dedicated AYUSH Mode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Saves Doctors' Time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r>
              <a:rPr lang="en-US" sz="1200" err="1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MediKiosk</a:t>
            </a:r>
            <a:endParaRPr lang="en-US" sz="120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  <a:p>
            <a:r>
              <a:rPr lang="en-US" sz="1200" dirty="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t>POTENTIAL IMPACT</a:t>
            </a: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Better Healthcare Access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Earlier Emergency Triage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Reduced OPD Congestion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Higher Hospital Efficiency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Integrative Healthcare</a:t>
            </a:r>
            <a:endParaRPr lang="en-US" sz="1200">
              <a:solidFill>
                <a:schemeClr val="bg1"/>
              </a:solidFill>
              <a:latin typeface="Calibri"/>
              <a:cs typeface="Calibri"/>
            </a:endParaRPr>
          </a:p>
          <a:p>
            <a:pPr algn="l"/>
            <a:endParaRPr lang="en-US" sz="1200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7A4649-8FF5-51B4-1F1E-29ABF5324D7A}"/>
              </a:ext>
            </a:extLst>
          </p:cNvPr>
          <p:cNvSpPr txBox="1"/>
          <p:nvPr/>
        </p:nvSpPr>
        <p:spPr>
          <a:xfrm>
            <a:off x="6022005" y="4021138"/>
            <a:ext cx="5973354" cy="21698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heavy" dirty="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Calibri"/>
                <a:ea typeface="ＭＳ Ｐゴシック"/>
                <a:cs typeface="Calibri"/>
              </a:rPr>
              <a:t>Benefits</a:t>
            </a:r>
            <a:r>
              <a:rPr lang="en-IN" b="1" u="heavy" spc="-35" dirty="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Calibri"/>
                <a:ea typeface="ＭＳ Ｐゴシック"/>
                <a:cs typeface="Calibri"/>
              </a:rPr>
              <a:t> </a:t>
            </a:r>
            <a:r>
              <a:rPr lang="en-IN" b="1" u="heavy" dirty="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Calibri"/>
                <a:ea typeface="ＭＳ Ｐゴシック"/>
                <a:cs typeface="Calibri"/>
              </a:rPr>
              <a:t>of</a:t>
            </a:r>
            <a:r>
              <a:rPr lang="en-IN" b="1" u="heavy" spc="-25" dirty="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Calibri"/>
                <a:ea typeface="ＭＳ Ｐゴシック"/>
                <a:cs typeface="Calibri"/>
              </a:rPr>
              <a:t> </a:t>
            </a:r>
            <a:r>
              <a:rPr lang="en-IN" b="1" u="heavy" dirty="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Calibri"/>
                <a:ea typeface="ＭＳ Ｐゴシック"/>
                <a:cs typeface="Calibri"/>
              </a:rPr>
              <a:t>the</a:t>
            </a:r>
            <a:r>
              <a:rPr lang="en-IN" b="1" u="heavy" spc="-25" dirty="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Calibri"/>
                <a:ea typeface="ＭＳ Ｐゴシック"/>
                <a:cs typeface="Calibri"/>
              </a:rPr>
              <a:t> </a:t>
            </a:r>
            <a:r>
              <a:rPr lang="en-IN" b="1" u="heavy" dirty="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Calibri"/>
                <a:ea typeface="ＭＳ Ｐゴシック"/>
                <a:cs typeface="Calibri"/>
              </a:rPr>
              <a:t>Solution</a:t>
            </a:r>
            <a:r>
              <a:rPr lang="en-IN" b="1" u="heavy" spc="-25" dirty="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Calibri"/>
                <a:ea typeface="ＭＳ Ｐゴシック"/>
                <a:cs typeface="Calibri"/>
              </a:rPr>
              <a:t> </a:t>
            </a:r>
            <a:r>
              <a:rPr lang="en-IN" b="1" u="heavy" spc="-50" dirty="0"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  <a:latin typeface="Calibri"/>
                <a:ea typeface="ＭＳ Ｐゴシック"/>
                <a:cs typeface="Calibri"/>
              </a:rPr>
              <a:t>:</a:t>
            </a:r>
            <a:endParaRPr lang="en-IN" dirty="0">
              <a:latin typeface="Calibri"/>
              <a:ea typeface="ＭＳ Ｐゴシック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Social</a:t>
            </a:r>
            <a:br>
              <a:rPr lang="en-IN" sz="1300" dirty="0"/>
            </a:br>
            <a:r>
              <a:rPr lang="en-IN" sz="130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Elderly, rural, low literacy, multilingual</a:t>
            </a:r>
            <a:r>
              <a:rPr lang="en-IN" sz="1300" dirty="0">
                <a:latin typeface="Calibri"/>
                <a:ea typeface="ＭＳ Ｐゴシック"/>
                <a:cs typeface="Calibri"/>
              </a:rPr>
              <a:t> inclusion. Early emergency detection. Real world fit: India's aging population, first time OPD patients with no digital ID.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Economical</a:t>
            </a:r>
            <a:br>
              <a:rPr lang="en-IN" sz="1300" dirty="0"/>
            </a:br>
            <a:r>
              <a:rPr lang="en-IN" sz="1300" dirty="0">
                <a:latin typeface="Calibri"/>
                <a:ea typeface="ＭＳ Ｐゴシック"/>
                <a:cs typeface="Calibri"/>
              </a:rPr>
              <a:t>Reduced staff workload. Fewer redundant tests. Higher OPD throughput. Real world fit: 4,000 to 10,000 patient/day govt hospitals.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Technological</a:t>
            </a:r>
            <a:br>
              <a:rPr lang="en-IN" sz="1300" dirty="0"/>
            </a:br>
            <a:r>
              <a:rPr lang="en-IN" sz="1300" dirty="0">
                <a:latin typeface="Calibri"/>
                <a:ea typeface="ＭＳ Ｐゴシック"/>
                <a:cs typeface="Calibri"/>
              </a:rPr>
              <a:t>AI, ASR, OCR, NLP/LLMs on ABDM/FHIR. </a:t>
            </a:r>
            <a:r>
              <a:rPr lang="en-IN" sz="130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AYUSH </a:t>
            </a:r>
            <a:r>
              <a:rPr lang="en-IN" sz="1300" dirty="0" err="1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Dashavidha</a:t>
            </a:r>
            <a:r>
              <a:rPr lang="en-IN" sz="130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 Pariksha digitization</a:t>
            </a:r>
            <a:r>
              <a:rPr lang="en-IN" sz="1300" dirty="0">
                <a:latin typeface="Calibri"/>
                <a:ea typeface="ＭＳ Ｐゴシック"/>
                <a:cs typeface="Calibri"/>
              </a:rPr>
              <a:t>. Real world fit: aligns with Ayushman Bharat Digital Mission rollout.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117" y="1501"/>
            <a:ext cx="1248818" cy="5896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BDAD737-BEFD-F15C-4B70-1CFB01BA5D4A}"/>
              </a:ext>
            </a:extLst>
          </p:cNvPr>
          <p:cNvSpPr txBox="1"/>
          <p:nvPr/>
        </p:nvSpPr>
        <p:spPr>
          <a:xfrm>
            <a:off x="5948517" y="745214"/>
            <a:ext cx="5973354" cy="32162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dirty="0">
                <a:solidFill>
                  <a:schemeClr val="tx2"/>
                </a:solidFill>
                <a:latin typeface="Calibri"/>
                <a:ea typeface="ＭＳ Ｐゴシック"/>
                <a:cs typeface="Calibri"/>
              </a:rPr>
              <a:t>❖ </a:t>
            </a:r>
            <a:r>
              <a:rPr lang="en-US" sz="2000" b="1" u="heavy" spc="-10" dirty="0">
                <a:solidFill>
                  <a:schemeClr val="tx2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Potential</a:t>
            </a:r>
            <a:r>
              <a:rPr lang="en-US" sz="2000" b="1" u="heavy" spc="-35" dirty="0">
                <a:solidFill>
                  <a:schemeClr val="tx2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 </a:t>
            </a:r>
            <a:r>
              <a:rPr lang="en-US" sz="2000" b="1" u="heavy" dirty="0">
                <a:solidFill>
                  <a:schemeClr val="tx2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Impact</a:t>
            </a:r>
            <a:r>
              <a:rPr lang="en-US" sz="2000" b="1" u="heavy" spc="-30" dirty="0">
                <a:solidFill>
                  <a:schemeClr val="tx2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 </a:t>
            </a:r>
            <a:r>
              <a:rPr lang="en-US" sz="2000" b="1" u="heavy" dirty="0">
                <a:solidFill>
                  <a:schemeClr val="tx2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on</a:t>
            </a:r>
            <a:r>
              <a:rPr lang="en-US" sz="2000" b="1" u="heavy" spc="-30" dirty="0">
                <a:solidFill>
                  <a:schemeClr val="tx2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 </a:t>
            </a:r>
            <a:r>
              <a:rPr lang="en-US" sz="2000" b="1" u="heavy" dirty="0">
                <a:solidFill>
                  <a:schemeClr val="tx2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the</a:t>
            </a:r>
            <a:r>
              <a:rPr lang="en-US" sz="2000" b="1" u="heavy" spc="-30" dirty="0">
                <a:solidFill>
                  <a:schemeClr val="tx2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 </a:t>
            </a:r>
            <a:r>
              <a:rPr lang="en-US" sz="2000" b="1" u="heavy" spc="-25" dirty="0">
                <a:solidFill>
                  <a:schemeClr val="tx2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Target</a:t>
            </a:r>
            <a:r>
              <a:rPr lang="en-US" sz="2000" b="1" u="heavy" spc="-30" dirty="0">
                <a:solidFill>
                  <a:schemeClr val="tx2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 </a:t>
            </a:r>
            <a:r>
              <a:rPr lang="en-US" sz="2000" b="1" u="heavy" spc="-10" dirty="0">
                <a:solidFill>
                  <a:schemeClr val="tx2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Audience</a:t>
            </a:r>
            <a:r>
              <a:rPr lang="en-US" sz="2000" b="1" u="heavy" spc="-30" dirty="0">
                <a:solidFill>
                  <a:schemeClr val="tx2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 </a:t>
            </a:r>
            <a:r>
              <a:rPr lang="en-US" sz="2000" b="1" u="heavy" spc="-50" dirty="0">
                <a:solidFill>
                  <a:schemeClr val="tx2"/>
                </a:solidFill>
                <a:uFill>
                  <a:solidFill>
                    <a:srgbClr val="000000"/>
                  </a:solidFill>
                </a:uFill>
                <a:latin typeface="Calibri"/>
                <a:ea typeface="ＭＳ Ｐゴシック"/>
                <a:cs typeface="Calibri"/>
              </a:rPr>
              <a:t>:</a:t>
            </a:r>
            <a:endParaRPr lang="en-IN" sz="1300" b="1" dirty="0">
              <a:solidFill>
                <a:schemeClr val="tx2"/>
              </a:solidFill>
            </a:endParaRPr>
          </a:p>
          <a:p>
            <a:r>
              <a:rPr lang="en-US" sz="13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   </a:t>
            </a:r>
            <a:r>
              <a:rPr lang="en-IN" sz="1300" b="1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1. </a:t>
            </a:r>
            <a:r>
              <a:rPr lang="en-IN" sz="1400" b="1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Bridging the Digital Healthcare Gap:</a:t>
            </a:r>
            <a:br>
              <a:rPr lang="en-IN" sz="1300" dirty="0"/>
            </a:br>
            <a:r>
              <a:rPr lang="en-IN" sz="1300" dirty="0">
                <a:latin typeface="Calibri"/>
                <a:ea typeface="ＭＳ Ｐゴシック"/>
                <a:cs typeface="Calibri"/>
              </a:rPr>
              <a:t>      </a:t>
            </a:r>
            <a:r>
              <a:rPr lang="en-IN" sz="130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 Five login paths </a:t>
            </a:r>
            <a:r>
              <a:rPr lang="en-IN" sz="1300" dirty="0">
                <a:latin typeface="Calibri"/>
                <a:ea typeface="ＭＳ Ｐゴシック"/>
                <a:cs typeface="Calibri"/>
              </a:rPr>
              <a:t>(phone, Aadhaar, ABHA, QR, ration card) exclude no one.</a:t>
            </a:r>
            <a:br>
              <a:rPr lang="en-IN" sz="1300" dirty="0"/>
            </a:br>
            <a:r>
              <a:rPr lang="en-IN" sz="1300" dirty="0">
                <a:latin typeface="Calibri"/>
                <a:ea typeface="ＭＳ Ｐゴシック"/>
                <a:cs typeface="Calibri"/>
              </a:rPr>
              <a:t>       Voice-first, multilingual design works for elderly and first-time patients.</a:t>
            </a:r>
          </a:p>
          <a:p>
            <a:r>
              <a:rPr lang="en-IN" sz="1300" b="1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   2. Complete, Multi-Mode History Capture:</a:t>
            </a:r>
            <a:br>
              <a:rPr lang="en-IN" sz="1300" dirty="0"/>
            </a:br>
            <a:r>
              <a:rPr lang="en-IN" sz="1300" dirty="0">
                <a:latin typeface="Calibri"/>
                <a:ea typeface="ＭＳ Ｐゴシック"/>
                <a:cs typeface="Calibri"/>
              </a:rPr>
              <a:t>      </a:t>
            </a:r>
            <a:r>
              <a:rPr lang="en-IN" sz="130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 Voice, touch, document scan</a:t>
            </a:r>
            <a:r>
              <a:rPr lang="en-IN" sz="1300" dirty="0">
                <a:latin typeface="Calibri"/>
                <a:ea typeface="ＭＳ Ｐゴシック"/>
                <a:cs typeface="Calibri"/>
              </a:rPr>
              <a:t>, and guided questioning in one intake.</a:t>
            </a:r>
            <a:br>
              <a:rPr lang="en-IN" sz="1300" dirty="0"/>
            </a:br>
            <a:r>
              <a:rPr lang="en-IN" sz="1300" dirty="0">
                <a:latin typeface="Calibri"/>
                <a:ea typeface="ＭＳ Ｐゴシック"/>
                <a:cs typeface="Calibri"/>
              </a:rPr>
              <a:t>       Cuts the risk of missed allergies, medications, or comorbidities.</a:t>
            </a:r>
          </a:p>
          <a:p>
            <a:r>
              <a:rPr lang="en-IN" sz="1300" b="1" dirty="0">
                <a:latin typeface="Calibri"/>
                <a:ea typeface="ＭＳ Ｐゴシック"/>
                <a:cs typeface="Calibri"/>
              </a:rPr>
              <a:t>   </a:t>
            </a:r>
            <a:r>
              <a:rPr lang="en-IN" sz="1300" b="1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3. Fragmented Records Become One Timeline:</a:t>
            </a:r>
            <a:br>
              <a:rPr lang="en-IN" sz="1300" dirty="0"/>
            </a:br>
            <a:r>
              <a:rPr lang="en-IN" sz="1300" dirty="0">
                <a:latin typeface="Calibri"/>
                <a:ea typeface="ＭＳ Ｐゴシック"/>
                <a:cs typeface="Calibri"/>
              </a:rPr>
              <a:t>       prescriptions and lab reports digitized into one </a:t>
            </a:r>
            <a:r>
              <a:rPr lang="en-IN" sz="130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chronological history.</a:t>
            </a:r>
          </a:p>
          <a:p>
            <a:r>
              <a:rPr lang="en-IN" sz="1300" b="1" dirty="0">
                <a:latin typeface="Calibri"/>
                <a:ea typeface="ＭＳ Ｐゴシック"/>
                <a:cs typeface="Calibri"/>
              </a:rPr>
              <a:t>   </a:t>
            </a:r>
            <a:r>
              <a:rPr lang="en-IN" sz="1300" b="1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4. Catches Emergencies Before the Queue Does:</a:t>
            </a:r>
            <a:br>
              <a:rPr lang="en-IN" sz="1300" dirty="0"/>
            </a:br>
            <a:r>
              <a:rPr lang="en-IN" sz="1300" dirty="0">
                <a:latin typeface="Calibri"/>
                <a:ea typeface="ＭＳ Ｐゴシック"/>
                <a:cs typeface="Calibri"/>
              </a:rPr>
              <a:t>       </a:t>
            </a:r>
            <a:r>
              <a:rPr lang="en-IN" sz="130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Red-flag detection flags</a:t>
            </a:r>
            <a:r>
              <a:rPr lang="en-IN" sz="1300" dirty="0">
                <a:latin typeface="Calibri"/>
                <a:ea typeface="ＭＳ Ｐゴシック"/>
                <a:cs typeface="Calibri"/>
              </a:rPr>
              <a:t> chest pain and stroke symptoms for immediate triage.</a:t>
            </a:r>
            <a:br>
              <a:rPr lang="en-IN" sz="1300" dirty="0"/>
            </a:br>
            <a:r>
              <a:rPr lang="en-IN" sz="1300" dirty="0">
                <a:latin typeface="Calibri"/>
                <a:ea typeface="ＭＳ Ｐゴシック"/>
                <a:cs typeface="Calibri"/>
              </a:rPr>
              <a:t>       Incomplete profile alerts stop doctors working from a half-finished history.</a:t>
            </a:r>
          </a:p>
          <a:p>
            <a:r>
              <a:rPr lang="en-IN" sz="1300" b="1" dirty="0">
                <a:latin typeface="Calibri"/>
                <a:ea typeface="ＭＳ Ｐゴシック"/>
                <a:cs typeface="Calibri"/>
              </a:rPr>
              <a:t>  </a:t>
            </a:r>
            <a:r>
              <a:rPr lang="en-IN" sz="1300" b="1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 5. Doctors Get Their Time Back:</a:t>
            </a:r>
            <a:br>
              <a:rPr lang="en-IN" sz="1300" dirty="0"/>
            </a:br>
            <a:r>
              <a:rPr lang="en-IN" sz="1300" dirty="0">
                <a:latin typeface="Calibri"/>
                <a:ea typeface="ＭＳ Ｐゴシック"/>
                <a:cs typeface="Calibri"/>
              </a:rPr>
              <a:t>       </a:t>
            </a:r>
            <a:r>
              <a:rPr lang="en-IN" sz="130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History</a:t>
            </a:r>
            <a:r>
              <a:rPr lang="en-IN" sz="1300" dirty="0">
                <a:solidFill>
                  <a:srgbClr val="00B050"/>
                </a:solidFill>
                <a:latin typeface="Calibri"/>
                <a:ea typeface="ＭＳ Ｐゴシック"/>
                <a:cs typeface="Calibri"/>
              </a:rPr>
              <a:t> </a:t>
            </a:r>
            <a:r>
              <a:rPr lang="en-IN" sz="1300" dirty="0">
                <a:latin typeface="Calibri"/>
                <a:ea typeface="ＭＳ Ｐゴシック"/>
                <a:cs typeface="Calibri"/>
              </a:rPr>
              <a:t>is pre-structured before the patient enters the room.</a:t>
            </a:r>
            <a:br>
              <a:rPr lang="en-IN" sz="1300" dirty="0"/>
            </a:br>
            <a:r>
              <a:rPr lang="en-IN" sz="1300" dirty="0">
                <a:latin typeface="Calibri"/>
                <a:ea typeface="ＭＳ Ｐゴシック"/>
                <a:cs typeface="Calibri"/>
              </a:rPr>
              <a:t>       Frees consultation time for examination, diagnosis, and counselling.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690CB2-1564-7810-AB25-15FB1978E4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505" t="714" r="1505" b="12333"/>
          <a:stretch>
            <a:fillRect/>
          </a:stretch>
        </p:blipFill>
        <p:spPr>
          <a:xfrm>
            <a:off x="162065" y="518979"/>
            <a:ext cx="5344000" cy="581938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41AEED56-26DB-5222-355C-32C7CB25C34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98149"/>
            <a:ext cx="1322046" cy="30819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err="1"/>
              <a:t>matriX</a:t>
            </a:r>
            <a:endParaRPr lang="en-IN" b="1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47787" y="5964"/>
            <a:ext cx="10972800" cy="726051"/>
          </a:xfrm>
        </p:spPr>
        <p:txBody>
          <a:bodyPr/>
          <a:lstStyle/>
          <a:p>
            <a:pPr eaLnBrk="1" hangingPunct="1"/>
            <a:r>
              <a:rPr lang="en-US" sz="24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929147" y="-69119"/>
            <a:ext cx="10333703" cy="952193"/>
          </a:xfrm>
        </p:spPr>
        <p:txBody>
          <a:bodyPr/>
          <a:lstStyle/>
          <a:p>
            <a:pPr eaLnBrk="1" hangingPunct="1"/>
            <a:r>
              <a:rPr lang="en-US" sz="24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390" y="1501"/>
            <a:ext cx="1912545" cy="9030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36B8D0-2045-11D5-8566-3450C79EFF1F}"/>
              </a:ext>
            </a:extLst>
          </p:cNvPr>
          <p:cNvSpPr txBox="1"/>
          <p:nvPr/>
        </p:nvSpPr>
        <p:spPr>
          <a:xfrm>
            <a:off x="138727" y="841780"/>
            <a:ext cx="5942504" cy="28238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69265" indent="-424815">
              <a:lnSpc>
                <a:spcPct val="100000"/>
              </a:lnSpc>
              <a:spcBef>
                <a:spcPts val="530"/>
              </a:spcBef>
              <a:buFont typeface="MS PGothic"/>
              <a:buChar char="❖"/>
              <a:tabLst>
                <a:tab pos="469265" algn="l"/>
              </a:tabLst>
            </a:pPr>
            <a:r>
              <a:rPr lang="en-IN" sz="2000" b="1" spc="-10" dirty="0">
                <a:solidFill>
                  <a:srgbClr val="1F497D"/>
                </a:solidFill>
                <a:latin typeface="Calibri"/>
                <a:ea typeface="ＭＳ Ｐゴシック"/>
                <a:cs typeface="Calibri"/>
              </a:rPr>
              <a:t>Research &amp; References</a:t>
            </a:r>
            <a:endParaRPr lang="en-IN" sz="2000" b="1" dirty="0">
              <a:latin typeface="Calibri"/>
              <a:ea typeface="ＭＳ Ｐゴシック"/>
              <a:cs typeface="Calibri"/>
            </a:endParaRPr>
          </a:p>
          <a:p>
            <a:pPr marL="431165" indent="-313055">
              <a:buClr>
                <a:srgbClr val="000000"/>
              </a:buClr>
              <a:buFont typeface="Arial"/>
              <a:buChar char="●"/>
              <a:tabLst>
                <a:tab pos="431165" algn="l"/>
              </a:tabLst>
            </a:pPr>
            <a:r>
              <a:rPr lang="en-IN" sz="14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ea typeface="Calibri"/>
                <a:cs typeface="Calibri"/>
                <a:hlinkClick r:id="rId4"/>
              </a:rPr>
              <a:t>https://ahmis.ayush.gov.in/ayush_health_facilities</a:t>
            </a:r>
            <a:r>
              <a:rPr lang="en-IN" sz="14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ea typeface="Calibri"/>
                <a:cs typeface="Calibri"/>
              </a:rPr>
              <a:t> </a:t>
            </a:r>
            <a:endParaRPr lang="en-IN" sz="1400" u="sng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ea typeface="ＭＳ Ｐゴシック"/>
              <a:cs typeface="Calibri"/>
            </a:endParaRPr>
          </a:p>
          <a:p>
            <a:pPr marL="431165" indent="-313055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pos="431165" algn="l"/>
              </a:tabLst>
            </a:pPr>
            <a:r>
              <a:rPr lang="en-IN" sz="14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ea typeface="Calibri"/>
                <a:cs typeface="Calibri"/>
              </a:rPr>
              <a:t>https://abdm.gov.in/</a:t>
            </a:r>
            <a:endParaRPr lang="en-IN" sz="1400" u="sng"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ea typeface="ＭＳ Ｐゴシック"/>
              <a:cs typeface="Calibri"/>
            </a:endParaRPr>
          </a:p>
          <a:p>
            <a:pPr marL="431165" indent="-313055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pos="431165" algn="l"/>
              </a:tabLst>
            </a:pPr>
            <a:r>
              <a:rPr lang="en-IN" sz="1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ea typeface="Calibri"/>
                <a:cs typeface="Calibri"/>
                <a:hlinkClick r:id="rId5"/>
              </a:rPr>
              <a:t>https://www.researchgate.net/publication/370852465_Santarpanotha_Nidana_Questionnaire_Evaluating_and_Designing</a:t>
            </a:r>
            <a:endParaRPr lang="en-IN" sz="1400" u="sng" spc="-10"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ea typeface="Calibri"/>
              <a:cs typeface="Calibri"/>
            </a:endParaRPr>
          </a:p>
          <a:p>
            <a:pPr marL="431165" indent="-313055">
              <a:buClr>
                <a:srgbClr val="000000"/>
              </a:buClr>
              <a:buFont typeface="Arial"/>
              <a:buChar char="●"/>
              <a:tabLst>
                <a:tab pos="431165" algn="l"/>
              </a:tabLst>
            </a:pPr>
            <a:r>
              <a:rPr lang="en-IN" sz="1400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ea typeface="Calibri"/>
                <a:cs typeface="Calibri"/>
                <a:hlinkClick r:id="rId6"/>
              </a:rPr>
              <a:t>https://pmc.ncbi.nlm.nih.gov/articles/PMC5871217/</a:t>
            </a:r>
            <a:r>
              <a:rPr lang="en-IN" sz="1400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ea typeface="Calibri"/>
                <a:cs typeface="Calibri"/>
              </a:rPr>
              <a:t> </a:t>
            </a:r>
            <a:endParaRPr lang="en-IN" sz="1400" u="sng" spc="-10"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ea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lang="en-IN" sz="1600" b="1" spc="-10" dirty="0">
                <a:latin typeface="Calibri"/>
                <a:ea typeface="ＭＳ Ｐゴシック"/>
                <a:cs typeface="Calibri"/>
              </a:rPr>
              <a:t>Existing</a:t>
            </a:r>
            <a:r>
              <a:rPr lang="en-IN" sz="1600" b="1" spc="-30" dirty="0">
                <a:latin typeface="Calibri"/>
                <a:ea typeface="ＭＳ Ｐゴシック"/>
                <a:cs typeface="Calibri"/>
              </a:rPr>
              <a:t> </a:t>
            </a:r>
            <a:r>
              <a:rPr lang="en-IN" sz="1600" b="1" spc="-10" dirty="0">
                <a:latin typeface="Calibri"/>
                <a:ea typeface="ＭＳ Ｐゴシック"/>
                <a:cs typeface="Calibri"/>
              </a:rPr>
              <a:t>Systems</a:t>
            </a:r>
            <a:r>
              <a:rPr lang="en-IN" sz="1600" b="1" spc="-30" dirty="0">
                <a:latin typeface="Calibri"/>
                <a:ea typeface="ＭＳ Ｐゴシック"/>
                <a:cs typeface="Calibri"/>
              </a:rPr>
              <a:t> </a:t>
            </a:r>
            <a:r>
              <a:rPr lang="en-IN" sz="1600" b="1" spc="-50" dirty="0">
                <a:latin typeface="Calibri"/>
                <a:ea typeface="ＭＳ Ｐゴシック"/>
                <a:cs typeface="Calibri"/>
              </a:rPr>
              <a:t>:</a:t>
            </a:r>
            <a:endParaRPr lang="en-IN" sz="1600" dirty="0">
              <a:latin typeface="Calibri"/>
              <a:ea typeface="ＭＳ Ｐゴシック"/>
              <a:cs typeface="Calibri"/>
            </a:endParaRPr>
          </a:p>
          <a:p>
            <a:pPr marL="469265" indent="-312420">
              <a:lnSpc>
                <a:spcPct val="100000"/>
              </a:lnSpc>
              <a:spcBef>
                <a:spcPts val="15"/>
              </a:spcBef>
              <a:buClr>
                <a:srgbClr val="000000"/>
              </a:buClr>
              <a:buFont typeface="Arial"/>
              <a:buChar char="●"/>
              <a:tabLst>
                <a:tab pos="469265" algn="l"/>
              </a:tabLst>
            </a:pPr>
            <a:r>
              <a:rPr lang="en-IN"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ea typeface="ＭＳ Ｐゴシック"/>
                <a:cs typeface="Calibri"/>
              </a:rPr>
              <a:t>MediBuddy</a:t>
            </a:r>
            <a:endParaRPr lang="en-IN" sz="1600" dirty="0">
              <a:latin typeface="Calibri"/>
              <a:ea typeface="ＭＳ Ｐゴシック"/>
              <a:cs typeface="Calibri"/>
            </a:endParaRPr>
          </a:p>
          <a:p>
            <a:pPr marL="469265" indent="-312420">
              <a:buClr>
                <a:srgbClr val="000000"/>
              </a:buClr>
              <a:buFont typeface="Arial"/>
              <a:buChar char="●"/>
              <a:tabLst>
                <a:tab pos="469265" algn="l"/>
              </a:tabLst>
            </a:pPr>
            <a:r>
              <a:rPr lang="en-IN"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ea typeface="ＭＳ Ｐゴシック"/>
                <a:cs typeface="Calibri"/>
              </a:rPr>
              <a:t>AYUSH Grid </a:t>
            </a:r>
            <a:endParaRPr lang="en-IN" sz="1600" u="sng" spc="-10"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  <a:p>
            <a:pPr marL="469265" indent="-31242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pos="469265" algn="l"/>
              </a:tabLst>
            </a:pPr>
            <a:r>
              <a:rPr lang="en-IN"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ea typeface="ＭＳ Ｐゴシック"/>
                <a:cs typeface="Calibri"/>
              </a:rPr>
              <a:t>Practo</a:t>
            </a:r>
            <a:endParaRPr lang="en-IN" sz="1600" u="sng" spc="-10"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  <a:p>
            <a:pPr marL="469265" indent="-312420">
              <a:buClr>
                <a:srgbClr val="000000"/>
              </a:buClr>
              <a:buFont typeface="Arial"/>
              <a:buChar char="●"/>
              <a:tabLst>
                <a:tab pos="469265" algn="l"/>
              </a:tabLst>
            </a:pPr>
            <a:r>
              <a:rPr lang="en-IN" sz="16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ea typeface="ＭＳ Ｐゴシック"/>
                <a:cs typeface="Calibri"/>
              </a:rPr>
              <a:t>Ada health (Germany)</a:t>
            </a:r>
            <a:endParaRPr lang="en-IN" sz="1600" u="sng" spc="-25"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</p:txBody>
      </p:sp>
      <p:pic>
        <p:nvPicPr>
          <p:cNvPr id="5" name="object 22">
            <a:extLst>
              <a:ext uri="{FF2B5EF4-FFF2-40B4-BE49-F238E27FC236}">
                <a16:creationId xmlns:a16="http://schemas.microsoft.com/office/drawing/2014/main" id="{EA86074D-4CBB-3BD0-708A-57E59F1C2E1F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5385" y="3699834"/>
            <a:ext cx="5646416" cy="2405176"/>
          </a:xfrm>
          <a:prstGeom prst="rect">
            <a:avLst/>
          </a:prstGeom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6BE1620-D087-691C-1D4B-CC9F035D24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7485" y="120278"/>
            <a:ext cx="1322046" cy="30819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err="1"/>
              <a:t>matriX</a:t>
            </a:r>
            <a:endParaRPr lang="en-IN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703B7C-1F5F-EF0D-9BCB-98924E2A5122}"/>
              </a:ext>
            </a:extLst>
          </p:cNvPr>
          <p:cNvSpPr txBox="1"/>
          <p:nvPr/>
        </p:nvSpPr>
        <p:spPr>
          <a:xfrm>
            <a:off x="6154990" y="75206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040" indent="-434340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447040" algn="l"/>
              </a:tabLst>
            </a:pPr>
            <a:r>
              <a:rPr lang="en-IN" sz="2000" b="1">
                <a:solidFill>
                  <a:srgbClr val="1F497D"/>
                </a:solidFill>
                <a:latin typeface="Calibri"/>
                <a:cs typeface="Calibri"/>
              </a:rPr>
              <a:t>Market</a:t>
            </a:r>
            <a:r>
              <a:rPr lang="en-IN" sz="2000" b="1" spc="-8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lang="en-IN" sz="2000" b="1" spc="-10">
                <a:solidFill>
                  <a:srgbClr val="1F497D"/>
                </a:solidFill>
                <a:latin typeface="Calibri"/>
                <a:cs typeface="Calibri"/>
              </a:rPr>
              <a:t>Research</a:t>
            </a:r>
            <a:endParaRPr lang="en-IN" sz="2000">
              <a:latin typeface="Calibri"/>
              <a:cs typeface="Calibri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AD82B05-9947-9EA0-0A69-DC0B7C90D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585437"/>
              </p:ext>
            </p:extLst>
          </p:nvPr>
        </p:nvGraphicFramePr>
        <p:xfrm>
          <a:off x="6302286" y="1150377"/>
          <a:ext cx="5586196" cy="46420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2941">
                  <a:extLst>
                    <a:ext uri="{9D8B030D-6E8A-4147-A177-3AD203B41FA5}">
                      <a16:colId xmlns:a16="http://schemas.microsoft.com/office/drawing/2014/main" val="499810531"/>
                    </a:ext>
                  </a:extLst>
                </a:gridCol>
                <a:gridCol w="1029657">
                  <a:extLst>
                    <a:ext uri="{9D8B030D-6E8A-4147-A177-3AD203B41FA5}">
                      <a16:colId xmlns:a16="http://schemas.microsoft.com/office/drawing/2014/main" val="2538308481"/>
                    </a:ext>
                  </a:extLst>
                </a:gridCol>
                <a:gridCol w="1179871">
                  <a:extLst>
                    <a:ext uri="{9D8B030D-6E8A-4147-A177-3AD203B41FA5}">
                      <a16:colId xmlns:a16="http://schemas.microsoft.com/office/drawing/2014/main" val="1227525878"/>
                    </a:ext>
                  </a:extLst>
                </a:gridCol>
                <a:gridCol w="779858">
                  <a:extLst>
                    <a:ext uri="{9D8B030D-6E8A-4147-A177-3AD203B41FA5}">
                      <a16:colId xmlns:a16="http://schemas.microsoft.com/office/drawing/2014/main" val="3465185233"/>
                    </a:ext>
                  </a:extLst>
                </a:gridCol>
                <a:gridCol w="803869">
                  <a:extLst>
                    <a:ext uri="{9D8B030D-6E8A-4147-A177-3AD203B41FA5}">
                      <a16:colId xmlns:a16="http://schemas.microsoft.com/office/drawing/2014/main" val="1534388122"/>
                    </a:ext>
                  </a:extLst>
                </a:gridCol>
              </a:tblGrid>
              <a:tr h="588661">
                <a:tc>
                  <a:txBody>
                    <a:bodyPr/>
                    <a:lstStyle/>
                    <a:p>
                      <a:pPr marL="337185" algn="l">
                        <a:lnSpc>
                          <a:spcPct val="150000"/>
                        </a:lnSpc>
                        <a:spcBef>
                          <a:spcPts val="615"/>
                        </a:spcBef>
                      </a:pPr>
                      <a:r>
                        <a:rPr lang="en-IN" sz="1600" b="1" spc="-1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 Features</a:t>
                      </a:r>
                      <a:endParaRPr lang="en-IN" sz="16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Bef>
                          <a:spcPts val="635"/>
                        </a:spcBef>
                      </a:pPr>
                      <a:r>
                        <a:rPr lang="en-IN" sz="1400" b="1" err="1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Medikiosk</a:t>
                      </a:r>
                    </a:p>
                  </a:txBody>
                  <a:tcPr marL="0" marR="0" marT="8064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225425" algn="l">
                        <a:lnSpc>
                          <a:spcPct val="150000"/>
                        </a:lnSpc>
                        <a:spcBef>
                          <a:spcPts val="635"/>
                        </a:spcBef>
                      </a:pPr>
                      <a:r>
                        <a:rPr lang="en-IN" sz="1200" b="1" dirty="0">
                          <a:latin typeface="Arial"/>
                          <a:cs typeface="Arial"/>
                        </a:rPr>
                        <a:t>  </a:t>
                      </a:r>
                      <a:r>
                        <a:rPr lang="en-IN" sz="1200" b="1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IN" sz="1200" b="1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Medibuddy</a:t>
                      </a:r>
                      <a:endParaRPr lang="en-IN" sz="12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Ayush Grid</a:t>
                      </a: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lang="en-IN" sz="1400" b="1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Practo</a:t>
                      </a: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4020639"/>
                  </a:ext>
                </a:extLst>
              </a:tr>
              <a:tr h="604420">
                <a:tc>
                  <a:txBody>
                    <a:bodyPr/>
                    <a:lstStyle/>
                    <a:p>
                      <a:pPr marL="436880" marR="83820" lvl="0" indent="-346710" algn="ctr">
                        <a:lnSpc>
                          <a:spcPct val="100000"/>
                        </a:lnSpc>
                        <a:spcBef>
                          <a:spcPts val="635"/>
                        </a:spcBef>
                        <a:buNone/>
                      </a:pPr>
                      <a:r>
                        <a:rPr lang="en-US" sz="1200" b="1" i="0" u="none" strike="noStrike" noProof="0" dirty="0"/>
                        <a:t>Multilingual voice-based intake</a:t>
                      </a:r>
                      <a:endParaRPr b="1" dirty="0"/>
                    </a:p>
                  </a:txBody>
                  <a:tcPr marL="0" marR="0" marT="80645" marB="0"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/>
                          <a:cs typeface="Times New Roman"/>
                        </a:rPr>
                        <a:t>Partial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318394"/>
                  </a:ext>
                </a:extLst>
              </a:tr>
              <a:tr h="534139">
                <a:tc>
                  <a:txBody>
                    <a:bodyPr/>
                    <a:lstStyle/>
                    <a:p>
                      <a:pPr marL="97155" lvl="0" algn="ctr">
                        <a:lnSpc>
                          <a:spcPct val="100000"/>
                        </a:lnSpc>
                        <a:spcBef>
                          <a:spcPts val="635"/>
                        </a:spcBef>
                        <a:buNone/>
                      </a:pPr>
                      <a:r>
                        <a:rPr lang="en-US" sz="1200" b="1" i="0" u="none" strike="noStrike" noProof="0" dirty="0"/>
                        <a:t>AI-guided adaptive history-taking</a:t>
                      </a:r>
                      <a:endParaRPr b="1" dirty="0"/>
                    </a:p>
                  </a:txBody>
                  <a:tcPr marL="0" marR="0" marT="80645" marB="0"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350253"/>
                  </a:ext>
                </a:extLst>
              </a:tr>
              <a:tr h="520083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Dedicated Ayush</a:t>
                      </a:r>
                      <a:endParaRPr lang="en-US" b="1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 Mode</a:t>
                      </a:r>
                      <a:endParaRPr lang="en-US" b="1" dirty="0"/>
                    </a:p>
                  </a:txBody>
                  <a:tcPr marL="0" marR="0" marT="80645" marB="0"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8894467"/>
                  </a:ext>
                </a:extLst>
              </a:tr>
              <a:tr h="548195">
                <a:tc>
                  <a:txBody>
                    <a:bodyPr/>
                    <a:lstStyle/>
                    <a:p>
                      <a:pPr marL="392430" marR="150495" lvl="0" indent="-235585" algn="ctr">
                        <a:lnSpc>
                          <a:spcPct val="100000"/>
                        </a:lnSpc>
                        <a:spcBef>
                          <a:spcPts val="635"/>
                        </a:spcBef>
                        <a:buNone/>
                      </a:pPr>
                      <a:r>
                        <a:rPr lang="en-US" sz="1200" b="1" i="0" u="none" strike="noStrike" noProof="0" dirty="0"/>
                        <a:t>OCR-based document digitization</a:t>
                      </a:r>
                      <a:endParaRPr b="1" dirty="0"/>
                    </a:p>
                  </a:txBody>
                  <a:tcPr marL="0" marR="0" marT="80645" marB="0"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888643"/>
                  </a:ext>
                </a:extLst>
              </a:tr>
              <a:tr h="486065">
                <a:tc>
                  <a:txBody>
                    <a:bodyPr/>
                    <a:lstStyle/>
                    <a:p>
                      <a:pPr marL="392430" marR="150495" lvl="0" indent="-235585" algn="ctr">
                        <a:lnSpc>
                          <a:spcPct val="100000"/>
                        </a:lnSpc>
                        <a:spcBef>
                          <a:spcPts val="635"/>
                        </a:spcBef>
                        <a:buNone/>
                      </a:pPr>
                      <a:r>
                        <a:rPr lang="en-IN" sz="1200" b="1" dirty="0"/>
                        <a:t>ABHA/ABDM integration</a:t>
                      </a:r>
                      <a:endParaRPr sz="1200" b="1" dirty="0"/>
                    </a:p>
                  </a:txBody>
                  <a:tcPr marL="0" marR="0" marT="80645" marB="0"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/>
                          <a:cs typeface="Times New Roman"/>
                        </a:rPr>
                        <a:t>  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/>
                          <a:cs typeface="Times New Roman"/>
                        </a:rPr>
                        <a:t>Partial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/>
                          <a:cs typeface="Times New Roman"/>
                        </a:rPr>
                        <a:t>Partial</a:t>
                      </a:r>
                      <a:endParaRPr lang="en-US" sz="1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883014"/>
                  </a:ext>
                </a:extLst>
              </a:tr>
              <a:tr h="590365">
                <a:tc>
                  <a:txBody>
                    <a:bodyPr/>
                    <a:lstStyle/>
                    <a:p>
                      <a:pPr marL="558165" marR="144145" lvl="0" indent="-406400" algn="ctr">
                        <a:lnSpc>
                          <a:spcPct val="100000"/>
                        </a:lnSpc>
                        <a:spcBef>
                          <a:spcPts val="635"/>
                        </a:spcBef>
                        <a:buNone/>
                      </a:pPr>
                      <a:r>
                        <a:rPr lang="en-US" sz="1200" b="1" i="0" u="none" strike="noStrike" noProof="0" dirty="0"/>
                        <a:t>Assisted mode for rural users</a:t>
                      </a:r>
                      <a:endParaRPr lang="en-US" b="1" dirty="0"/>
                    </a:p>
                  </a:txBody>
                  <a:tcPr marL="0" marR="0" marT="80645" marB="0"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063906"/>
                  </a:ext>
                </a:extLst>
              </a:tr>
              <a:tr h="646589">
                <a:tc>
                  <a:txBody>
                    <a:bodyPr/>
                    <a:lstStyle/>
                    <a:p>
                      <a:pPr marL="85725" lvl="0" algn="ctr">
                        <a:lnSpc>
                          <a:spcPct val="100000"/>
                        </a:lnSpc>
                        <a:spcBef>
                          <a:spcPts val="635"/>
                        </a:spcBef>
                        <a:buNone/>
                      </a:pPr>
                      <a:r>
                        <a:rPr lang="en-US" sz="1200" b="1" i="0" u="none" strike="noStrike" noProof="0" dirty="0"/>
                        <a:t>Rule-based red flag/emergency detection</a:t>
                      </a:r>
                      <a:endParaRPr b="1" dirty="0"/>
                    </a:p>
                  </a:txBody>
                  <a:tcPr marL="0" marR="0" marT="80645" marB="0" anchor="ctr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dirty="0">
                          <a:latin typeface="Times New Roman"/>
                          <a:cs typeface="Times New Roman"/>
                        </a:rPr>
                        <a:t>     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4790" algn="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43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43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14138"/>
                  </a:ext>
                </a:extLst>
              </a:tr>
            </a:tbl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1A58BB46-AFAD-AF6D-58E1-089A1C7C4D5F}"/>
              </a:ext>
            </a:extLst>
          </p:cNvPr>
          <p:cNvGrpSpPr/>
          <p:nvPr/>
        </p:nvGrpSpPr>
        <p:grpSpPr>
          <a:xfrm>
            <a:off x="6201040" y="5895564"/>
            <a:ext cx="6475429" cy="330860"/>
            <a:chOff x="6621139" y="5924251"/>
            <a:chExt cx="6475429" cy="330860"/>
          </a:xfrm>
        </p:grpSpPr>
        <p:pic>
          <p:nvPicPr>
            <p:cNvPr id="19" name="object 26">
              <a:extLst>
                <a:ext uri="{FF2B5EF4-FFF2-40B4-BE49-F238E27FC236}">
                  <a16:creationId xmlns:a16="http://schemas.microsoft.com/office/drawing/2014/main" id="{9D1B5D4A-5551-7C7C-5C3D-D4F139FC5D3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21139" y="5970721"/>
              <a:ext cx="278649" cy="278649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73A06F8-DD69-4FD2-6D28-A446B00A899E}"/>
                </a:ext>
              </a:extLst>
            </p:cNvPr>
            <p:cNvSpPr txBox="1"/>
            <p:nvPr/>
          </p:nvSpPr>
          <p:spPr>
            <a:xfrm>
              <a:off x="6899788" y="5924251"/>
              <a:ext cx="6196780" cy="330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lang="en-US" sz="1550" b="1">
                  <a:latin typeface="Calibri"/>
                  <a:cs typeface="Calibri"/>
                </a:rPr>
                <a:t>Live</a:t>
              </a:r>
              <a:r>
                <a:rPr lang="en-US" sz="1550" b="1" spc="20">
                  <a:latin typeface="Calibri"/>
                  <a:cs typeface="Calibri"/>
                </a:rPr>
                <a:t> </a:t>
              </a:r>
              <a:r>
                <a:rPr lang="en-US" sz="1550" b="1">
                  <a:latin typeface="Calibri"/>
                  <a:cs typeface="Calibri"/>
                </a:rPr>
                <a:t>Demo</a:t>
              </a:r>
              <a:r>
                <a:rPr lang="en-US" sz="1550" b="1" spc="25">
                  <a:latin typeface="Calibri"/>
                  <a:cs typeface="Calibri"/>
                </a:rPr>
                <a:t> </a:t>
              </a:r>
              <a:r>
                <a:rPr lang="en-US" sz="1550" b="1">
                  <a:latin typeface="Calibri"/>
                  <a:cs typeface="Calibri"/>
                </a:rPr>
                <a:t>:</a:t>
              </a:r>
              <a:endParaRPr lang="en-US" sz="1550">
                <a:latin typeface="Calibri"/>
                <a:cs typeface="Calibri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15E9E1C-FA3E-1A77-D6F8-4FA7007808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1851" y="3093601"/>
            <a:ext cx="295350" cy="28944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9BAF4435-2F29-1ACC-5ACF-EB2D0162CA6F}"/>
              </a:ext>
            </a:extLst>
          </p:cNvPr>
          <p:cNvGrpSpPr/>
          <p:nvPr/>
        </p:nvGrpSpPr>
        <p:grpSpPr>
          <a:xfrm>
            <a:off x="8330107" y="1836830"/>
            <a:ext cx="3254302" cy="3887799"/>
            <a:chOff x="8330107" y="1925318"/>
            <a:chExt cx="3254302" cy="388779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039EFBE-B32F-ADB2-74A4-52E9DDE45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513224" y="2015223"/>
              <a:ext cx="283537" cy="27763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1003799-D46C-FB91-86E0-58CADEBE4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513224" y="2607832"/>
              <a:ext cx="283537" cy="27763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19E838F-D9DE-73F8-3C14-58E01426F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513224" y="3700008"/>
              <a:ext cx="283537" cy="277630"/>
            </a:xfrm>
            <a:prstGeom prst="rect">
              <a:avLst/>
            </a:prstGeom>
          </p:spPr>
        </p:pic>
        <p:pic>
          <p:nvPicPr>
            <p:cNvPr id="25" name="Picture 24" descr="A red x on a white background&#10;&#10;AI-generated content may be incorrect.">
              <a:extLst>
                <a:ext uri="{FF2B5EF4-FFF2-40B4-BE49-F238E27FC236}">
                  <a16:creationId xmlns:a16="http://schemas.microsoft.com/office/drawing/2014/main" id="{9D31ED05-F5D5-4A76-7CE3-D678E3D26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298862" y="2614625"/>
              <a:ext cx="283537" cy="277630"/>
            </a:xfrm>
            <a:prstGeom prst="rect">
              <a:avLst/>
            </a:prstGeom>
          </p:spPr>
        </p:pic>
        <p:pic>
          <p:nvPicPr>
            <p:cNvPr id="26" name="Picture 25" descr="A red x on a white background&#10;&#10;AI-generated content may be incorrect.">
              <a:extLst>
                <a:ext uri="{FF2B5EF4-FFF2-40B4-BE49-F238E27FC236}">
                  <a16:creationId xmlns:a16="http://schemas.microsoft.com/office/drawing/2014/main" id="{45C68F39-EDF6-9611-E1AE-2206E6DA4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298862" y="3122204"/>
              <a:ext cx="283537" cy="27763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08EE24F-F708-9484-6FA5-781EFE83F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300872" y="3648856"/>
              <a:ext cx="283537" cy="27763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B892AEA-2801-FD35-C86D-9E6D1456C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31852" y="2005064"/>
              <a:ext cx="295350" cy="28944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37896C2-B541-7AD6-F183-D23025D92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31852" y="2567171"/>
              <a:ext cx="295350" cy="289443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FC0B48F-BB27-3297-8487-EB5DE2BF1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31852" y="3650511"/>
              <a:ext cx="295350" cy="289443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9084650-85C4-C41C-4804-2F3E8125D7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513224" y="5440149"/>
              <a:ext cx="283537" cy="27763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573D012-2F29-FC31-E60A-D074065A7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513224" y="4817104"/>
              <a:ext cx="283537" cy="277630"/>
            </a:xfrm>
            <a:prstGeom prst="rect">
              <a:avLst/>
            </a:prstGeom>
          </p:spPr>
        </p:pic>
        <p:pic>
          <p:nvPicPr>
            <p:cNvPr id="28" name="Picture 27" descr="A red x on a white background&#10;&#10;AI-generated content may be incorrect.">
              <a:extLst>
                <a:ext uri="{FF2B5EF4-FFF2-40B4-BE49-F238E27FC236}">
                  <a16:creationId xmlns:a16="http://schemas.microsoft.com/office/drawing/2014/main" id="{F27487EA-13F9-3DB3-B2CA-DB91D9A1C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298861" y="5421024"/>
              <a:ext cx="283537" cy="277630"/>
            </a:xfrm>
            <a:prstGeom prst="rect">
              <a:avLst/>
            </a:prstGeom>
          </p:spPr>
        </p:pic>
        <p:pic>
          <p:nvPicPr>
            <p:cNvPr id="29" name="Picture 28" descr="A red x on a white background&#10;&#10;AI-generated content may be incorrect.">
              <a:extLst>
                <a:ext uri="{FF2B5EF4-FFF2-40B4-BE49-F238E27FC236}">
                  <a16:creationId xmlns:a16="http://schemas.microsoft.com/office/drawing/2014/main" id="{C169C6D8-C8B1-D92B-B366-AB9D3792B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298862" y="4797786"/>
              <a:ext cx="283537" cy="27763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9C8F265-53AE-3889-1DAF-CA7F2AE3B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46266" y="5434242"/>
              <a:ext cx="295350" cy="289443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3ECA7C7-D555-D69D-69AA-8F3F14D10FF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36433" y="4817104"/>
              <a:ext cx="295350" cy="289443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EDAE782-CAB6-8936-F819-ABC6AAF35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30111" y="3012439"/>
              <a:ext cx="508000" cy="44704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D2D2657-1B6E-FB29-2456-69B83FAB1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30107" y="5315277"/>
              <a:ext cx="508000" cy="49784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CEA23D13-7ACF-A7E4-38FC-DF7CB23B6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30110" y="3530598"/>
              <a:ext cx="508000" cy="44704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60E868A-0C1D-55F6-B7A8-164E2C7D5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30109" y="4727182"/>
              <a:ext cx="508000" cy="49784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7D250E8-D17C-1B78-E9B5-9373BDC9F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30110" y="2484118"/>
              <a:ext cx="508000" cy="44704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56B7F359-272A-E72F-082D-0190E7A69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30110" y="1925318"/>
              <a:ext cx="508000" cy="44704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391F0D5-C30C-6C1C-9882-E0ACE63C8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400992" y="3037499"/>
              <a:ext cx="508000" cy="44704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3BE29EB-8F8C-A517-5492-E71894C32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30107" y="4128534"/>
              <a:ext cx="508000" cy="44704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E1C85E4-9C7A-F20E-1420-F343F0956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400992" y="4158099"/>
              <a:ext cx="508000" cy="447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revision>284</cp:revision>
  <dcterms:created xsi:type="dcterms:W3CDTF">2013-12-12T18:46:50Z</dcterms:created>
  <dcterms:modified xsi:type="dcterms:W3CDTF">2026-09-10T17:25:30Z</dcterms:modified>
  <cp:category/>
</cp:coreProperties>
</file>